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satq1.png"/><Relationship Id="rId5" Type="http://schemas.openxmlformats.org/officeDocument/2006/relationships/image" Target="../media/satq2.png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satq3.png"/><Relationship Id="rId5" Type="http://schemas.openxmlformats.org/officeDocument/2006/relationships/image" Target="../media/satq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satq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26167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SatQuery AI: An Interactive Vision-Language Assistant for Multimodal Remote Sensing Image Analysis through Text Queries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Theme- Space Technology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ID- (as registered on portal)</a:t>
            </a:r>
          </a:p>
          <a:p>
            <a:pPr marL="285750" indent="-285750" algn="just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Lunar Circle</a:t>
            </a:r>
            <a:endParaRPr lang="en-IN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SatQuery AI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What it is: </a:t>
            </a:r>
            <a:r>
              <a:rPr lang="en-US" sz="1300" dirty="0">
                <a:latin typeface="Arial" pitchFamily="34" charset="0"/>
                <a:cs typeface="Arial" pitchFamily="34" charset="0"/>
              </a:rPr>
              <a:t>An agentic vision-language assistant: upload GeoTIFF imagery, ask in natural language, get an evidence-grounded answer (masks/boxes + confidence + auditable trace).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dirty="0">
                <a:latin typeface="Arial" pitchFamily="34" charset="0"/>
                <a:cs typeface="Arial" pitchFamily="34" charset="0"/>
              </a:rPr>
              <a:t>Supports all 3 prescribed inputs — single optical/SAR image, co-registered optical–SAR pair, bi-temporal pair — across VQA, captioning, grounding, change-VQA and fusion.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How it addresses the problem: </a:t>
            </a:r>
            <a:r>
              <a:rPr lang="en-US" sz="1300" dirty="0">
                <a:latin typeface="Arial" pitchFamily="34" charset="0"/>
                <a:cs typeface="Arial" pitchFamily="34" charset="0"/>
              </a:rPr>
              <a:t>Replaces fragmented single-task RS tools; a controller validates inputs and routes each query to fine-tuned specialist models — no GIS expertise needed.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Innovation &amp; uniqueness: </a:t>
            </a:r>
            <a:r>
              <a:rPr lang="en-US" sz="1300" dirty="0">
                <a:latin typeface="Arial" pitchFamily="34" charset="0"/>
                <a:cs typeface="Arial" pitchFamily="34" charset="0"/>
              </a:rPr>
              <a:t>Agentic orchestration (not one generic VLM); LoRA adaptation on BigEarthNet.txt — 464,044 co-registered S1 SAR + S2 pairs, 9.6M annotations; rejects incompatible inputs; ships visual evidence + execution summary.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cs typeface="Arial" pitchFamily="34" charset="0"/>
              </a:rPr>
              <a:t>LIVE: </a:t>
            </a:r>
            <a:r>
              <a:rPr lang="en-US" sz="1300" dirty="0">
                <a:latin typeface="Arial" pitchFamily="34" charset="0"/>
                <a:cs typeface="Arial" pitchFamily="34" charset="0"/>
              </a:rPr>
              <a:t>Working prototype already deployed — gangadhar017.github.io/Lunar_circle (scan QR →)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Lunar Circle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Live cons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5193792"/>
            <a:ext cx="2011680" cy="1271016"/>
          </a:xfrm>
          <a:prstGeom prst="rect">
            <a:avLst/>
          </a:prstGeom>
          <a:ln w="9525">
            <a:solidFill>
              <a:srgbClr val="1F4E79"/>
            </a:solidFill>
          </a:ln>
        </p:spPr>
      </p:pic>
      <p:pic>
        <p:nvPicPr>
          <p:cNvPr id="15364" name="Demo Q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5193792"/>
            <a:ext cx="1271016" cy="1271016"/>
          </a:xfrm>
          <a:prstGeom prst="rect">
            <a:avLst/>
          </a:prstGeom>
          <a:ln w="9525">
            <a:solidFill>
              <a:srgbClr val="1F4E79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Technologies: </a:t>
            </a:r>
            <a:r>
              <a:rPr lang="en-US" sz="1300" dirty="0">
                <a:latin typeface="Arial" pitchFamily="34" charset="0"/>
                <a:cs typeface="Arial" pitchFamily="34" charset="0"/>
              </a:rPr>
              <a:t>Python · PyTorch · HF Transformers · Qwen2.5-VL-7B + LoRA/PEFT (4-bit) · LangGraph agent · GDAL/rasterio · FastAPI backend · JS mission console · Docker (deployed: GitHub Pages + Render).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Methodology: </a:t>
            </a:r>
            <a:r>
              <a:rPr lang="en-US" sz="1300" dirty="0">
                <a:latin typeface="Arial" pitchFamily="34" charset="0"/>
                <a:cs typeface="Arial" pitchFamily="34" charset="0"/>
              </a:rPr>
              <a:t>Query → task classification → input validation (count/modality/CRS/co-registration) → specialist selection from registry → execution → evidence-grounded output + auditable trace: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Lunar Circle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Architectur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364992"/>
            <a:ext cx="6949440" cy="3063240"/>
          </a:xfrm>
          <a:prstGeom prst="rect">
            <a:avLst/>
          </a:prstGeom>
          <a:ln w="9525">
            <a:solidFill>
              <a:srgbClr val="1F4E79"/>
            </a:solidFill>
          </a:ln>
        </p:spPr>
      </p:pic>
      <p:pic>
        <p:nvPicPr>
          <p:cNvPr id="17412" name="Demo Q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5138928"/>
            <a:ext cx="1234440" cy="1234440"/>
          </a:xfrm>
          <a:prstGeom prst="rect">
            <a:avLst/>
          </a:prstGeom>
          <a:ln w="9525">
            <a:solidFill>
              <a:srgbClr val="1F4E79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Feasibility: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100% open datasets (BigEarthNet.txt, VRSBench, RSVQA, CDVQA); strong open RS baselines (GeoChat, RemoteCLIP); LoRA trains &lt;1% of parameters on a free T4 GPU; frontend + agentic FastAPI backend already deployed and public.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Challenges &amp; risks: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Limited GPU compute · GeoTIFF/multi-band handling · domain gap to Cartosat-2S/RISAT evaluation data · VLM hallucination · orchestration failing live.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itchFamily="34" charset="0"/>
                <a:cs typeface="Arial" pitchFamily="34" charset="0"/>
              </a:rPr>
              <a:t>Strategies to overcome:</a:t>
            </a:r>
          </a:p>
          <a:p>
            <a:pPr marL="742950" lvl="1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itchFamily="34" charset="0"/>
                <a:cs typeface="Arial" pitchFamily="34" charset="0"/>
              </a:rPr>
              <a:t>4-bit quantisation + LoRA adapters (compute); GDAL preprocessing — band selection, CRS checks, tiling (formats)</a:t>
            </a:r>
          </a:p>
          <a:p>
            <a:pPr marL="742950" lvl="1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itchFamily="34" charset="0"/>
                <a:cs typeface="Arial" pitchFamily="34" charset="0"/>
              </a:rPr>
              <a:t>Multisensor S1+S2 training + SAR-style speckle/resolution augmentation (domain transfer)</a:t>
            </a:r>
          </a:p>
          <a:p>
            <a:pPr marL="742950" lvl="1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itchFamily="34" charset="0"/>
                <a:cs typeface="Arial" pitchFamily="34" charset="0"/>
              </a:rPr>
              <a:t>Grounded outputs + confidence thresholds + strict input validator (hallucination)</a:t>
            </a:r>
          </a:p>
          <a:p>
            <a:pPr marL="742950" lvl="1" indent="-285750" algn="just">
              <a:buFont typeface="Arial" panose="020B0604020202020204" pitchFamily="34" charset="0"/>
              <a:buChar char="–"/>
            </a:pPr>
            <a:r>
              <a:rPr lang="en-US" sz="1300" dirty="0">
                <a:latin typeface="Arial" pitchFamily="34" charset="0"/>
                <a:cs typeface="Arial" pitchFamily="34" charset="0"/>
              </a:rPr>
              <a:t>Deterministic routing + full execution trace + graceful fallback to single-image VQA (reliability)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Lunar Circle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Target audience: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District officials, disaster-response teams, planners, farmers’ bodies and NGOs can question satellite imagery in plain language — no GIS training required.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Social: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Democratises ISRO Earth-observation data for non-experts across governance and civil society.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Economic: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Hours of manual multi-tool GIS analysis reduced to seconds per query; one platform replaces many single-task systems.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Environmental: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Continuous monitoring of forests, water bodies, cropland and urban sprawl; SAR works through clouds, day and night — critical for floods and cyclones.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Strategic: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Multiplies the value of Cartosat &amp; RISAT missions; auditable, evidence-grounded AI suitable for official use.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Lunar Circle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cs typeface="Arial" pitchFamily="34" charset="0"/>
              </a:rPr>
              <a:t>Live prototype: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gangadhar017.github.io/Lunar_circle · Source + backend: github.com/Gangadhar017/Lunar_circle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Training dataset: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BigEarthNet.txt — arXiv:2603.29630 · txt.bigearth.net (464,044 co-registered S1+S2 pairs, 9.6M annotations; captions, VQA, referring-expression detection)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Evaluation benchmarks: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VRSBench — github.com/lx709/VRSBench · RSVQA — rsvqa.sylvainlobry.com · CDVQA — github.com/YZHJessica/CDVQA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cs typeface="Arial" pitchFamily="34" charset="0"/>
              </a:rPr>
              <a:t>Key research: 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GeoChat (CVPR 2024) · RemoteCLIP (2024) · RSVQA (IEEE TGRS 2020) · CDVQA (IEEE TGRS 2022) · LoRA (ICLR 2022)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1400" dirty="0">
                <a:latin typeface="Arial" pitchFamily="34" charset="0"/>
                <a:cs typeface="Arial" pitchFamily="34" charset="0"/>
              </a:rPr>
              <a:t>Final evaluation readiness: prescribed public test splits with normalised scores; multisensor training targets the ISRO/SAC Cartosat-2S + RISAT hidden set.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Lunar Circle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Demo Q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1320" y="5029200"/>
            <a:ext cx="1143000" cy="1143000"/>
          </a:xfrm>
          <a:prstGeom prst="rect">
            <a:avLst/>
          </a:prstGeom>
          <a:ln w="9525">
            <a:solidFill>
              <a:srgbClr val="1F4E79"/>
            </a:solidFill>
          </a:ln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