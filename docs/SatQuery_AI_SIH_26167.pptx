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image" Target="../media/image-2-4.png"/><Relationship Id="rId8" Type="http://schemas.openxmlformats.org/officeDocument/2006/relationships/image" Target="../media/image-2-4.png"/><Relationship Id="rId9" Type="http://schemas.openxmlformats.org/officeDocument/2006/relationships/image" Target="../media/image-2-4.png"/><Relationship Id="rId10" Type="http://schemas.openxmlformats.org/officeDocument/2006/relationships/image" Target="../media/image-2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5.png"/><Relationship Id="rId8" Type="http://schemas.openxmlformats.org/officeDocument/2006/relationships/image" Target="../media/image-9-6.png"/><Relationship Id="rId9" Type="http://schemas.openxmlformats.org/officeDocument/2006/relationships/image" Target="../media/image-9-5.png"/><Relationship Id="rId10" Type="http://schemas.openxmlformats.org/officeDocument/2006/relationships/image" Target="../media/image-9-6.png"/><Relationship Id="rId11" Type="http://schemas.openxmlformats.org/officeDocument/2006/relationships/image" Target="../media/image-9-5.png"/><Relationship Id="rId12" Type="http://schemas.openxmlformats.org/officeDocument/2006/relationships/image" Target="../media/image-9-6.png"/><Relationship Id="rId13" Type="http://schemas.openxmlformats.org/officeDocument/2006/relationships/image" Target="../media/image-9-5.png"/><Relationship Id="rId14" Type="http://schemas.openxmlformats.org/officeDocument/2006/relationships/image" Target="../media/image-9-6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2-5.png"/><Relationship Id="rId6" Type="http://schemas.openxmlformats.org/officeDocument/2006/relationships/image" Target="../media/image-12-5.png"/><Relationship Id="rId7" Type="http://schemas.openxmlformats.org/officeDocument/2006/relationships/image" Target="../media/image-12-5.png"/><Relationship Id="rId8" Type="http://schemas.openxmlformats.org/officeDocument/2006/relationships/image" Target="../media/image-12-5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0" y="17373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822960"/>
            <a:ext cx="22860" cy="22860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45720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73152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14630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0" y="457200"/>
            <a:ext cx="25603" cy="25603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0" y="1097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5394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560320" y="6217920"/>
            <a:ext cx="23774" cy="23774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480560" y="5760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6309360"/>
            <a:ext cx="21946" cy="21946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0" y="5669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47120" y="612648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852160" y="1188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881360" y="3108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291840"/>
            <a:ext cx="20117" cy="20117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04320" y="46634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0" y="-2377440"/>
            <a:ext cx="8595360" cy="8595360"/>
          </a:xfrm>
          <a:prstGeom prst="ellipse">
            <a:avLst/>
          </a:prstGeom>
          <a:ln w="19050">
            <a:solidFill>
              <a:srgbClr val="1B2B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0" y="-1280160"/>
            <a:ext cx="6400800" cy="6400800"/>
          </a:xfrm>
          <a:prstGeom prst="ellipse">
            <a:avLst/>
          </a:prstGeom>
          <a:ln w="19050">
            <a:solidFill>
              <a:srgbClr val="2436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-182880"/>
            <a:ext cx="4206240" cy="4206240"/>
          </a:xfrm>
          <a:prstGeom prst="ellipse">
            <a:avLst/>
          </a:prstGeom>
          <a:ln w="19050">
            <a:solidFill>
              <a:srgbClr val="2D42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49640" y="4434840"/>
            <a:ext cx="777240" cy="77724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24" name="Image 0" descr="icons/satellit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1722" y="4636922"/>
            <a:ext cx="373075" cy="373075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11018520" y="4224528"/>
            <a:ext cx="658368" cy="65836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6" name="Image 1" descr="icons/di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9696" y="4395704"/>
            <a:ext cx="316017" cy="316017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85800" y="640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 — INTERNAL ROUND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40080" y="1234440"/>
            <a:ext cx="8686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SatQuery AI</a:t>
            </a:r>
            <a:endParaRPr lang="en-US" sz="6600" dirty="0"/>
          </a:p>
        </p:txBody>
      </p:sp>
      <p:sp>
        <p:nvSpPr>
          <p:cNvPr id="29" name="Text 25"/>
          <p:cNvSpPr txBox="1"/>
          <p:nvPr/>
        </p:nvSpPr>
        <p:spPr>
          <a:xfrm>
            <a:off x="685800" y="25146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7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Vision-Language Assistant for Multimodal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7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Sensing Image Analysis through Text Queries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685800" y="36118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satellites questions in plain language.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AI routes each query to fine-tuned remote-sensing specialist models across optical, SAR and multi-temporal imagery — and answers with visual evidence.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5800" y="4983480"/>
            <a:ext cx="1810512" cy="749808"/>
          </a:xfrm>
          <a:prstGeom prst="roundRect">
            <a:avLst>
              <a:gd name="adj" fmla="val 10976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32104" y="50840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ID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53035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26167</a:t>
            </a:r>
            <a:endParaRPr lang="en-US" sz="1350" dirty="0"/>
          </a:p>
        </p:txBody>
      </p:sp>
      <p:sp>
        <p:nvSpPr>
          <p:cNvPr id="34" name="Shape 30"/>
          <p:cNvSpPr/>
          <p:nvPr/>
        </p:nvSpPr>
        <p:spPr>
          <a:xfrm>
            <a:off x="2697480" y="4983480"/>
            <a:ext cx="1810512" cy="749808"/>
          </a:xfrm>
          <a:prstGeom prst="roundRect">
            <a:avLst>
              <a:gd name="adj" fmla="val 10976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843784" y="50840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2843784" y="53035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ISRO / SAC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709160" y="4983480"/>
            <a:ext cx="1810512" cy="749808"/>
          </a:xfrm>
          <a:prstGeom prst="roundRect">
            <a:avLst>
              <a:gd name="adj" fmla="val 10976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855464" y="50840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50" dirty="0"/>
          </a:p>
        </p:txBody>
      </p:sp>
      <p:sp>
        <p:nvSpPr>
          <p:cNvPr id="39" name="Text 35"/>
          <p:cNvSpPr txBox="1"/>
          <p:nvPr/>
        </p:nvSpPr>
        <p:spPr>
          <a:xfrm>
            <a:off x="4855464" y="53035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Technology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6720840" y="4983480"/>
            <a:ext cx="1810512" cy="749808"/>
          </a:xfrm>
          <a:prstGeom prst="roundRect">
            <a:avLst>
              <a:gd name="adj" fmla="val 10976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67144" y="50840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6867144" y="53035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350" dirty="0"/>
          </a:p>
        </p:txBody>
      </p:sp>
      <p:sp>
        <p:nvSpPr>
          <p:cNvPr id="43" name="Text 39"/>
          <p:cNvSpPr txBox="1"/>
          <p:nvPr/>
        </p:nvSpPr>
        <p:spPr>
          <a:xfrm>
            <a:off x="685800" y="5989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CIRCLE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9400032" y="5852160"/>
            <a:ext cx="2670048" cy="768096"/>
          </a:xfrm>
          <a:prstGeom prst="roundRect">
            <a:avLst>
              <a:gd name="adj" fmla="val 10714"/>
            </a:avLst>
          </a:prstGeom>
          <a:solidFill>
            <a:srgbClr val="063B57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564624" y="5943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SCAN OR VISIT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564624" y="61630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gangadhar017.github.io/Lunar_circle</a:t>
            </a:r>
            <a:endParaRPr lang="en-US" sz="980" dirty="0"/>
          </a:p>
        </p:txBody>
      </p:sp>
      <p:sp>
        <p:nvSpPr>
          <p:cNvPr id="47" name="Shape 43"/>
          <p:cNvSpPr/>
          <p:nvPr/>
        </p:nvSpPr>
        <p:spPr>
          <a:xfrm>
            <a:off x="8375904" y="576072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8" name="Image 2" descr="qr_dem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5824728"/>
            <a:ext cx="786384" cy="786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imagery is everywhere — the expertise to question it is not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0372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64208"/>
            <a:ext cx="475488" cy="475488"/>
          </a:xfrm>
          <a:prstGeom prst="ellipse">
            <a:avLst/>
          </a:prstGeom>
          <a:solidFill>
            <a:srgbClr val="C2410C"/>
          </a:solidFill>
          <a:ln/>
        </p:spPr>
      </p:sp>
      <p:pic>
        <p:nvPicPr>
          <p:cNvPr id="6" name="Image 0" descr="icons/gea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435" y="1787835"/>
            <a:ext cx="228234" cy="228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single-task tools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938528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RS AI ships as isolated apps — one for classification, one for detection, one for change. Users must know sensors, GIS workflows and model selection just to ask a question.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017520"/>
            <a:ext cx="690372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3200400"/>
            <a:ext cx="475488" cy="475488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1" name="Image 1" descr="icons/lay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5" y="332402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1821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live across images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1417320" y="3474720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questions often need more than one optical image: SAR sees structure through clouds day &amp; night; change needs two dates; optical + SAR together beat either alone.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4553712"/>
            <a:ext cx="690372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4736592"/>
            <a:ext cx="475488" cy="47548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icons/war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35" y="4860219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471830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VLMs fall short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5010912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LLMs/VLMs aren't adapted to RS imagery, sensor physics or domain terminology — the PS explicitly rules out an unadapted generic model.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726680" y="1481328"/>
            <a:ext cx="3913632" cy="4443984"/>
          </a:xfrm>
          <a:prstGeom prst="roundRect">
            <a:avLst>
              <a:gd name="adj" fmla="val 2336"/>
            </a:avLst>
          </a:prstGeom>
          <a:solidFill>
            <a:srgbClr val="0A1128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964424" y="1682496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PS 26167 DEMANDS</a:t>
            </a:r>
            <a:endParaRPr lang="en-US" sz="1100" dirty="0"/>
          </a:p>
        </p:txBody>
      </p:sp>
      <p:pic>
        <p:nvPicPr>
          <p:cNvPr id="21" name="Image 3" descr="icons/check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206654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75320" y="204825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VQA + one more task (caption or grounding)</a:t>
            </a:r>
            <a:endParaRPr lang="en-US" sz="1050" dirty="0"/>
          </a:p>
        </p:txBody>
      </p:sp>
      <p:pic>
        <p:nvPicPr>
          <p:cNvPr id="23" name="Image 4" descr="icons/check_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601468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75320" y="2583180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Bi-temporal change description / change-VQA</a:t>
            </a:r>
            <a:endParaRPr lang="en-US" sz="1050" dirty="0"/>
          </a:p>
        </p:txBody>
      </p:sp>
      <p:pic>
        <p:nvPicPr>
          <p:cNvPr id="25" name="Image 5" descr="icons/check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3136392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275320" y="3118104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Co-registered optical–SAR joint extraction</a:t>
            </a:r>
            <a:endParaRPr lang="en-US" sz="1050" dirty="0"/>
          </a:p>
        </p:txBody>
      </p:sp>
      <p:pic>
        <p:nvPicPr>
          <p:cNvPr id="27" name="Image 6" descr="icons/check_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3671316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275320" y="3653028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model &amp; tool orchestration</a:t>
            </a:r>
            <a:endParaRPr lang="en-US" sz="1050" dirty="0"/>
          </a:p>
        </p:txBody>
      </p:sp>
      <p:pic>
        <p:nvPicPr>
          <p:cNvPr id="29" name="Image 7" descr="icons/check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4424" y="420624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8275320" y="4187952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fine-tuning (BigEarthNet.txt)</a:t>
            </a:r>
            <a:endParaRPr lang="en-US" sz="1050" dirty="0"/>
          </a:p>
        </p:txBody>
      </p:sp>
      <p:pic>
        <p:nvPicPr>
          <p:cNvPr id="31" name="Image 8" descr="icons/check_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64424" y="4741164"/>
            <a:ext cx="201168" cy="201168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8275320" y="472287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GeoTIFF I/O + input compatibility checks</a:t>
            </a:r>
            <a:endParaRPr lang="en-US" sz="1050" dirty="0"/>
          </a:p>
        </p:txBody>
      </p:sp>
      <p:pic>
        <p:nvPicPr>
          <p:cNvPr id="33" name="Image 9" descr="icons/check_c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64424" y="5276088"/>
            <a:ext cx="201168" cy="201168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275320" y="5257800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confidence &amp; auditable trace</a:t>
            </a:r>
            <a:endParaRPr lang="en-US" sz="1050" dirty="0"/>
          </a:p>
        </p:txBody>
      </p:sp>
      <p:sp>
        <p:nvSpPr>
          <p:cNvPr id="35" name="Text 23"/>
          <p:cNvSpPr txBox="1"/>
          <p:nvPr/>
        </p:nvSpPr>
        <p:spPr>
          <a:xfrm>
            <a:off x="548640" y="614476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answers all of it through one natural-language console — </a:t>
            </a:r>
            <a:pPr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live in prototype.</a:t>
            </a:r>
            <a:endParaRPr lang="en-US" sz="1300" dirty="0"/>
          </a:p>
        </p:txBody>
      </p:sp>
      <p:sp>
        <p:nvSpPr>
          <p:cNvPr id="36" name="Text 2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7" name="Text 25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assistant, every satellite question — no GIS expertise required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883664"/>
          </a:xfrm>
          <a:prstGeom prst="roundRect">
            <a:avLst>
              <a:gd name="adj" fmla="val 4854"/>
            </a:avLst>
          </a:prstGeom>
          <a:solidFill>
            <a:srgbClr val="0A11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64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956816"/>
            <a:ext cx="456285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Remote-sensing AI today is fragmented into single-task tools that demand expertise in sensors, GIS workflows and model selection. Real questions often need multiple images — optical + SAR, or two dates — which generic VLMs cannot reason over reliably.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5074920" cy="2615184"/>
          </a:xfrm>
          <a:prstGeom prst="roundRect">
            <a:avLst>
              <a:gd name="adj" fmla="val 349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37490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1100" dirty="0"/>
          </a:p>
        </p:txBody>
      </p:sp>
      <p:pic>
        <p:nvPicPr>
          <p:cNvPr id="9" name="Image 0" descr="icons/chat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087368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70432" y="4059936"/>
            <a:ext cx="4178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front end — upload GeoTIFF/TIFF imagery, ask a question, get an evidence-grounded answer.</a:t>
            </a:r>
            <a:endParaRPr lang="en-US" sz="1150" dirty="0"/>
          </a:p>
        </p:txBody>
      </p:sp>
      <p:pic>
        <p:nvPicPr>
          <p:cNvPr id="11" name="Image 1" descr="icons/brain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60857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70432" y="4581144"/>
            <a:ext cx="4178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controller interprets the query, validates inputs and routes to the right specialist model automatically.</a:t>
            </a:r>
            <a:endParaRPr lang="en-US" sz="1150" dirty="0"/>
          </a:p>
        </p:txBody>
      </p:sp>
      <p:pic>
        <p:nvPicPr>
          <p:cNvPr id="13" name="Image 2" descr="icons/layers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129784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70432" y="5102352"/>
            <a:ext cx="4178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all three prescribed scopes: single image, co-registered optical–SAR pair, bi-temporal pair.</a:t>
            </a:r>
            <a:endParaRPr lang="en-US" sz="1150" dirty="0"/>
          </a:p>
        </p:txBody>
      </p:sp>
      <p:pic>
        <p:nvPicPr>
          <p:cNvPr id="15" name="Image 3" descr="icons/ey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50992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70432" y="5623560"/>
            <a:ext cx="4178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ships with visual evidence, confidence and an auditable execution trace.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5897880" y="146304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5897880" y="1828800"/>
            <a:ext cx="2779776" cy="2157984"/>
          </a:xfrm>
          <a:prstGeom prst="roundRect">
            <a:avLst>
              <a:gd name="adj" fmla="val 423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099048" y="2011680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20" name="Image 4" descr="icons/brain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1305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099048" y="2578608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Agentic, not generic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6099048" y="2871216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selects, sequences and executes fine-tuned RS specialist models per query — instead of one generic VLM guessing at everything.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860536" y="1828800"/>
            <a:ext cx="2779776" cy="2157984"/>
          </a:xfrm>
          <a:prstGeom prst="roundRect">
            <a:avLst>
              <a:gd name="adj" fmla="val 423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9061704" y="201168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5" name="Image 5" descr="icons/satellit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0576" y="2130552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061704" y="2578608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RS adaptation</a:t>
            </a:r>
            <a:endParaRPr lang="en-US" sz="1350" dirty="0"/>
          </a:p>
        </p:txBody>
      </p:sp>
      <p:sp>
        <p:nvSpPr>
          <p:cNvPr id="27" name="Text 19"/>
          <p:cNvSpPr txBox="1"/>
          <p:nvPr/>
        </p:nvSpPr>
        <p:spPr>
          <a:xfrm>
            <a:off x="9061704" y="2871216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backbone fine-tuned (LoRA) on BigEarthNet's co-registered Sentinel-1 SAR + Sentinel-2 multispectral imagery.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897880" y="4169664"/>
            <a:ext cx="2779776" cy="2157984"/>
          </a:xfrm>
          <a:prstGeom prst="roundRect">
            <a:avLst>
              <a:gd name="adj" fmla="val 423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099048" y="4352544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30" name="Image 6" descr="icons/clock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4471416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099048" y="4919472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Multi-image reasoning</a:t>
            </a:r>
            <a:endParaRPr lang="en-US" sz="1350" dirty="0"/>
          </a:p>
        </p:txBody>
      </p:sp>
      <p:sp>
        <p:nvSpPr>
          <p:cNvPr id="32" name="Text 23"/>
          <p:cNvSpPr txBox="1"/>
          <p:nvPr/>
        </p:nvSpPr>
        <p:spPr>
          <a:xfrm>
            <a:off x="6099048" y="521208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description &amp; change-VQA over bi-temporal pairs, plus optical–SAR fusion that extracts complementary information.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8860536" y="4169664"/>
            <a:ext cx="2779776" cy="2157984"/>
          </a:xfrm>
          <a:prstGeom prst="roundRect">
            <a:avLst>
              <a:gd name="adj" fmla="val 4237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061704" y="4352544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5" name="Image 7" descr="icons/shield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0576" y="44714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061704" y="4919472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by design</a:t>
            </a:r>
            <a:endParaRPr lang="en-US" sz="1350" dirty="0"/>
          </a:p>
        </p:txBody>
      </p:sp>
      <p:sp>
        <p:nvSpPr>
          <p:cNvPr id="37" name="Text 27"/>
          <p:cNvSpPr txBox="1"/>
          <p:nvPr/>
        </p:nvSpPr>
        <p:spPr>
          <a:xfrm>
            <a:off x="9061704" y="521208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masks/boxes as proof, confidence estimates, and an auditable trace of task, models and parameters — as the PS demands.</a:t>
            </a:r>
            <a:endParaRPr lang="en-US" sz="1050" dirty="0"/>
          </a:p>
        </p:txBody>
      </p:sp>
      <p:sp>
        <p:nvSpPr>
          <p:cNvPr id="38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9" name="Text 29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0" y="17373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822960"/>
            <a:ext cx="22860" cy="22860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45720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73152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14630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0" y="457200"/>
            <a:ext cx="25603" cy="25603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0" y="1097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5394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560320" y="6217920"/>
            <a:ext cx="23774" cy="23774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480560" y="5760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6309360"/>
            <a:ext cx="21946" cy="21946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0" y="5669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47120" y="612648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852160" y="1188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881360" y="3108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291840"/>
            <a:ext cx="20117" cy="20117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04320" y="46634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6576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Prototype — Deployed Today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9326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mockup: the mission console is public, and the agentic FastAPI backend is Dockerised &amp; API-ready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5779008" cy="3767328"/>
          </a:xfrm>
          <a:prstGeom prst="roundRect">
            <a:avLst>
              <a:gd name="adj" fmla="val 1942"/>
            </a:avLst>
          </a:prstGeom>
          <a:solidFill>
            <a:srgbClr val="13203F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23" name="Image 0" descr="v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490472"/>
            <a:ext cx="5632704" cy="35661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1792" y="5230368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console · live cursor georeferencing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510528" y="1417320"/>
            <a:ext cx="5120640" cy="3767328"/>
          </a:xfrm>
          <a:prstGeom prst="roundRect">
            <a:avLst>
              <a:gd name="adj" fmla="val 1942"/>
            </a:avLst>
          </a:prstGeom>
          <a:solidFill>
            <a:srgbClr val="13203F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6" name="Image 1" descr="v2_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36192"/>
            <a:ext cx="4974336" cy="352958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583680" y="5230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Bi-temporal change analysis · evidence + execution trace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48640" y="5541264"/>
            <a:ext cx="11082528" cy="859536"/>
          </a:xfrm>
          <a:prstGeom prst="roundRect">
            <a:avLst>
              <a:gd name="adj" fmla="val 10638"/>
            </a:avLst>
          </a:prstGeom>
          <a:solidFill>
            <a:srgbClr val="063B57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94944" y="5632704"/>
            <a:ext cx="676656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/>
        </p:spPr>
      </p:sp>
      <p:pic>
        <p:nvPicPr>
          <p:cNvPr id="30" name="Image 2" descr="qr_dem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5678424"/>
            <a:ext cx="585216" cy="58521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536192" y="5541264"/>
            <a:ext cx="9966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gangadhar017.github.io/Lunar_circle</a:t>
            </a:r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CODE  </a:t>
            </a:r>
            <a:pPr indent="0" marL="0">
              <a:buNone/>
            </a:pPr>
            <a:r>
              <a:rPr lang="en-US" sz="130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github.com/Gangadhar017/Lunar_circle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in — evidence-grounded answer out, through an agentic pipeline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2606040" cy="1078992"/>
          </a:xfrm>
          <a:prstGeom prst="roundRect">
            <a:avLst>
              <a:gd name="adj" fmla="val 6780"/>
            </a:avLst>
          </a:prstGeom>
          <a:solidFill>
            <a:srgbClr val="0A1128"/>
          </a:solidFill>
          <a:ln/>
        </p:spPr>
      </p:sp>
      <p:sp>
        <p:nvSpPr>
          <p:cNvPr id="5" name="Shape 3"/>
          <p:cNvSpPr/>
          <p:nvPr/>
        </p:nvSpPr>
        <p:spPr>
          <a:xfrm>
            <a:off x="676656" y="1426464"/>
            <a:ext cx="347472" cy="347472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6" name="Image 0" descr="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999" y="1516807"/>
            <a:ext cx="166787" cy="166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417320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Query + Imagery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94944" y="18288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question with GeoTIFF/TIFF — optical/MS, SAR, or image pairs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182112" y="1719072"/>
            <a:ext cx="219456" cy="237744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10" name="Shape 7"/>
          <p:cNvSpPr/>
          <p:nvPr/>
        </p:nvSpPr>
        <p:spPr>
          <a:xfrm>
            <a:off x="3429000" y="1298448"/>
            <a:ext cx="2606040" cy="1078992"/>
          </a:xfrm>
          <a:prstGeom prst="roundRect">
            <a:avLst>
              <a:gd name="adj" fmla="val 6780"/>
            </a:avLst>
          </a:prstGeom>
          <a:solidFill>
            <a:srgbClr val="0A1128"/>
          </a:solidFill>
          <a:ln/>
        </p:spPr>
      </p:sp>
      <p:sp>
        <p:nvSpPr>
          <p:cNvPr id="11" name="Shape 8"/>
          <p:cNvSpPr/>
          <p:nvPr/>
        </p:nvSpPr>
        <p:spPr>
          <a:xfrm>
            <a:off x="3557016" y="1426464"/>
            <a:ext cx="347472" cy="347472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icons/shiel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59" y="1516807"/>
            <a:ext cx="166787" cy="166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95928" y="1417320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Input Validator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75304" y="18288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count, modality, format, metadata &amp; co-registration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62472" y="1719072"/>
            <a:ext cx="219456" cy="237744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16" name="Shape 12"/>
          <p:cNvSpPr/>
          <p:nvPr/>
        </p:nvSpPr>
        <p:spPr>
          <a:xfrm>
            <a:off x="6309360" y="1298448"/>
            <a:ext cx="2606040" cy="1078992"/>
          </a:xfrm>
          <a:prstGeom prst="roundRect">
            <a:avLst>
              <a:gd name="adj" fmla="val 6780"/>
            </a:avLst>
          </a:prstGeom>
          <a:solidFill>
            <a:srgbClr val="0A1128"/>
          </a:solidFill>
          <a:ln/>
        </p:spPr>
      </p:sp>
      <p:sp>
        <p:nvSpPr>
          <p:cNvPr id="17" name="Shape 13"/>
          <p:cNvSpPr/>
          <p:nvPr/>
        </p:nvSpPr>
        <p:spPr>
          <a:xfrm>
            <a:off x="6437376" y="1426464"/>
            <a:ext cx="347472" cy="347472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8" name="Image 2" descr="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19" y="1516807"/>
            <a:ext cx="166787" cy="1667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76288" y="1417320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Agentic Controller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455664" y="18288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the task and plans the tool workflow (LangGraph)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42832" y="1719072"/>
            <a:ext cx="219456" cy="237744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22" name="Shape 17"/>
          <p:cNvSpPr/>
          <p:nvPr/>
        </p:nvSpPr>
        <p:spPr>
          <a:xfrm>
            <a:off x="9189720" y="1298448"/>
            <a:ext cx="2606040" cy="1078992"/>
          </a:xfrm>
          <a:prstGeom prst="roundRect">
            <a:avLst>
              <a:gd name="adj" fmla="val 6780"/>
            </a:avLst>
          </a:prstGeom>
          <a:solidFill>
            <a:srgbClr val="0A1128"/>
          </a:solidFill>
          <a:ln/>
        </p:spPr>
      </p:sp>
      <p:sp>
        <p:nvSpPr>
          <p:cNvPr id="23" name="Shape 18"/>
          <p:cNvSpPr/>
          <p:nvPr/>
        </p:nvSpPr>
        <p:spPr>
          <a:xfrm>
            <a:off x="9317736" y="1426464"/>
            <a:ext cx="347472" cy="347472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4" name="Image 3" descr="icons/rout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1516807"/>
            <a:ext cx="166787" cy="16678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56648" y="1417320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Task Router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9336024" y="18288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models from registry; sets only permitted parameters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5971032" y="2450592"/>
            <a:ext cx="237744" cy="274320"/>
          </a:xfrm>
          <a:prstGeom prst="downArrow">
            <a:avLst/>
          </a:prstGeom>
          <a:solidFill>
            <a:srgbClr val="B6C4D9"/>
          </a:solidFill>
          <a:ln/>
        </p:spPr>
      </p:sp>
      <p:sp>
        <p:nvSpPr>
          <p:cNvPr id="28" name="Shape 22"/>
          <p:cNvSpPr/>
          <p:nvPr/>
        </p:nvSpPr>
        <p:spPr>
          <a:xfrm>
            <a:off x="548640" y="2798064"/>
            <a:ext cx="11091672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04672" y="290779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MODEL REGISTRY — remote-sensing fine-tuned (BigEarthNet · LoRA/PEFT)</a:t>
            </a:r>
            <a:endParaRPr lang="en-US" sz="1050" dirty="0"/>
          </a:p>
        </p:txBody>
      </p:sp>
      <p:pic>
        <p:nvPicPr>
          <p:cNvPr id="30" name="Image 4" descr="icons/chat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255264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188720" y="3264408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RS-VQA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04672" y="360273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visual question answering (mandatory baseline)</a:t>
            </a:r>
            <a:endParaRPr lang="en-US" sz="950" dirty="0"/>
          </a:p>
        </p:txBody>
      </p:sp>
      <p:pic>
        <p:nvPicPr>
          <p:cNvPr id="33" name="Image 5" descr="icons/map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255264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886200" y="3264408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 + Grounding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3502152" y="360273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description &amp; text-guided region localisation</a:t>
            </a:r>
            <a:endParaRPr lang="en-US" sz="950" dirty="0"/>
          </a:p>
        </p:txBody>
      </p:sp>
      <p:pic>
        <p:nvPicPr>
          <p:cNvPr id="36" name="Image 6" descr="icons/clock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9632" y="3255264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583680" y="3264408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Change-VQA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6199632" y="360273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Bi-temporal change description, change QA &amp; change maps</a:t>
            </a:r>
            <a:endParaRPr lang="en-US" sz="950" dirty="0"/>
          </a:p>
        </p:txBody>
      </p:sp>
      <p:pic>
        <p:nvPicPr>
          <p:cNvPr id="39" name="Image 7" descr="icons/layers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7112" y="3255264"/>
            <a:ext cx="274320" cy="27432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281160" y="3264408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Optical–SAR Fusion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8897112" y="360273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extraction: built-up, water &amp; structure from both sensors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5971032" y="4334256"/>
            <a:ext cx="237744" cy="274320"/>
          </a:xfrm>
          <a:prstGeom prst="downArrow">
            <a:avLst/>
          </a:prstGeom>
          <a:solidFill>
            <a:srgbClr val="B6C4D9"/>
          </a:solidFill>
          <a:ln/>
        </p:spPr>
      </p:sp>
      <p:sp>
        <p:nvSpPr>
          <p:cNvPr id="43" name="Shape 33"/>
          <p:cNvSpPr/>
          <p:nvPr/>
        </p:nvSpPr>
        <p:spPr>
          <a:xfrm>
            <a:off x="548640" y="466344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0A1128"/>
          </a:solidFill>
          <a:ln/>
        </p:spPr>
      </p:sp>
      <p:sp>
        <p:nvSpPr>
          <p:cNvPr id="44" name="Shape 34"/>
          <p:cNvSpPr/>
          <p:nvPr/>
        </p:nvSpPr>
        <p:spPr>
          <a:xfrm>
            <a:off x="694944" y="4809744"/>
            <a:ext cx="347472" cy="347472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45" name="Image 8" descr="icons/gears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287" y="4900087"/>
            <a:ext cx="166787" cy="166787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1152144" y="47914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Output Integrator</a:t>
            </a:r>
            <a:endParaRPr lang="en-US" sz="1150" dirty="0"/>
          </a:p>
        </p:txBody>
      </p:sp>
      <p:sp>
        <p:nvSpPr>
          <p:cNvPr id="47" name="Text 36"/>
          <p:cNvSpPr txBox="1"/>
          <p:nvPr/>
        </p:nvSpPr>
        <p:spPr>
          <a:xfrm>
            <a:off x="713232" y="517550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textual + spatial outputs, estimates confidence, attaches evidence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6016752" y="5029200"/>
            <a:ext cx="256032" cy="237744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49" name="Shape 38"/>
          <p:cNvSpPr/>
          <p:nvPr/>
        </p:nvSpPr>
        <p:spPr>
          <a:xfrm>
            <a:off x="6355080" y="4663440"/>
            <a:ext cx="5285232" cy="969264"/>
          </a:xfrm>
          <a:prstGeom prst="roundRect">
            <a:avLst>
              <a:gd name="adj" fmla="val 7547"/>
            </a:avLst>
          </a:prstGeom>
          <a:solidFill>
            <a:srgbClr val="063B57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501384" y="4809744"/>
            <a:ext cx="347472" cy="347472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51" name="Image 9" descr="icons/file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727" y="4900087"/>
            <a:ext cx="166787" cy="166787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958584" y="47914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Evidence-Grounded Response</a:t>
            </a:r>
            <a:endParaRPr lang="en-US" sz="1150" dirty="0"/>
          </a:p>
        </p:txBody>
      </p:sp>
      <p:sp>
        <p:nvSpPr>
          <p:cNvPr id="53" name="Text 41"/>
          <p:cNvSpPr txBox="1"/>
          <p:nvPr/>
        </p:nvSpPr>
        <p:spPr>
          <a:xfrm>
            <a:off x="6519672" y="517550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overlays/boxes + confidence + auditable execution summary + downloadable report</a:t>
            </a:r>
            <a:endParaRPr lang="en-US" sz="950" dirty="0"/>
          </a:p>
        </p:txBody>
      </p:sp>
      <p:sp>
        <p:nvSpPr>
          <p:cNvPr id="54" name="Text 42"/>
          <p:cNvSpPr txBox="1"/>
          <p:nvPr/>
        </p:nvSpPr>
        <p:spPr>
          <a:xfrm>
            <a:off x="548640" y="58704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55" name="Shape 43"/>
          <p:cNvSpPr/>
          <p:nvPr/>
        </p:nvSpPr>
        <p:spPr>
          <a:xfrm>
            <a:off x="1234440" y="5833872"/>
            <a:ext cx="760781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1234440" y="5833872"/>
            <a:ext cx="7607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950" dirty="0"/>
          </a:p>
        </p:txBody>
      </p:sp>
      <p:sp>
        <p:nvSpPr>
          <p:cNvPr id="57" name="Shape 45"/>
          <p:cNvSpPr/>
          <p:nvPr/>
        </p:nvSpPr>
        <p:spPr>
          <a:xfrm>
            <a:off x="2104949" y="5833872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58" name="Text 46"/>
          <p:cNvSpPr txBox="1"/>
          <p:nvPr/>
        </p:nvSpPr>
        <p:spPr>
          <a:xfrm>
            <a:off x="2104949" y="583387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Transformers</a:t>
            </a:r>
            <a:endParaRPr lang="en-US" sz="950" dirty="0"/>
          </a:p>
        </p:txBody>
      </p:sp>
      <p:sp>
        <p:nvSpPr>
          <p:cNvPr id="59" name="Shape 47"/>
          <p:cNvSpPr/>
          <p:nvPr/>
        </p:nvSpPr>
        <p:spPr>
          <a:xfrm>
            <a:off x="3531413" y="5833872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3531413" y="583387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 / GeoChat</a:t>
            </a:r>
            <a:endParaRPr lang="en-US" sz="950" dirty="0"/>
          </a:p>
        </p:txBody>
      </p:sp>
      <p:sp>
        <p:nvSpPr>
          <p:cNvPr id="61" name="Shape 49"/>
          <p:cNvSpPr/>
          <p:nvPr/>
        </p:nvSpPr>
        <p:spPr>
          <a:xfrm>
            <a:off x="5305349" y="5833872"/>
            <a:ext cx="1038758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5305349" y="5833872"/>
            <a:ext cx="10387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/ PEFT</a:t>
            </a:r>
            <a:endParaRPr lang="en-US" sz="950" dirty="0"/>
          </a:p>
        </p:txBody>
      </p:sp>
      <p:sp>
        <p:nvSpPr>
          <p:cNvPr id="63" name="Shape 51"/>
          <p:cNvSpPr/>
          <p:nvPr/>
        </p:nvSpPr>
        <p:spPr>
          <a:xfrm>
            <a:off x="6453835" y="5833872"/>
            <a:ext cx="899770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64" name="Text 52"/>
          <p:cNvSpPr txBox="1"/>
          <p:nvPr/>
        </p:nvSpPr>
        <p:spPr>
          <a:xfrm>
            <a:off x="6453835" y="5833872"/>
            <a:ext cx="8997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950" dirty="0"/>
          </a:p>
        </p:txBody>
      </p:sp>
      <p:sp>
        <p:nvSpPr>
          <p:cNvPr id="65" name="Shape 53"/>
          <p:cNvSpPr/>
          <p:nvPr/>
        </p:nvSpPr>
        <p:spPr>
          <a:xfrm>
            <a:off x="7463333" y="5833872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66" name="Text 54"/>
          <p:cNvSpPr txBox="1"/>
          <p:nvPr/>
        </p:nvSpPr>
        <p:spPr>
          <a:xfrm>
            <a:off x="7463333" y="583387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 · rasterio</a:t>
            </a:r>
            <a:endParaRPr lang="en-US" sz="950" dirty="0"/>
          </a:p>
        </p:txBody>
      </p:sp>
      <p:sp>
        <p:nvSpPr>
          <p:cNvPr id="67" name="Shape 55"/>
          <p:cNvSpPr/>
          <p:nvPr/>
        </p:nvSpPr>
        <p:spPr>
          <a:xfrm>
            <a:off x="8889797" y="5833872"/>
            <a:ext cx="760781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68" name="Text 56"/>
          <p:cNvSpPr txBox="1"/>
          <p:nvPr/>
        </p:nvSpPr>
        <p:spPr>
          <a:xfrm>
            <a:off x="8889797" y="5833872"/>
            <a:ext cx="7607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50" dirty="0"/>
          </a:p>
        </p:txBody>
      </p:sp>
      <p:sp>
        <p:nvSpPr>
          <p:cNvPr id="69" name="Shape 57"/>
          <p:cNvSpPr/>
          <p:nvPr/>
        </p:nvSpPr>
        <p:spPr>
          <a:xfrm>
            <a:off x="9760306" y="5833872"/>
            <a:ext cx="621792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70" name="Text 58"/>
          <p:cNvSpPr txBox="1"/>
          <p:nvPr/>
        </p:nvSpPr>
        <p:spPr>
          <a:xfrm>
            <a:off x="9760306" y="583387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950" dirty="0"/>
          </a:p>
        </p:txBody>
      </p:sp>
      <p:sp>
        <p:nvSpPr>
          <p:cNvPr id="71" name="Shape 59"/>
          <p:cNvSpPr/>
          <p:nvPr/>
        </p:nvSpPr>
        <p:spPr>
          <a:xfrm>
            <a:off x="10491826" y="5833872"/>
            <a:ext cx="691286" cy="329184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 w="9525">
            <a:solidFill>
              <a:srgbClr val="C5D6EA"/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10491826" y="5833872"/>
            <a:ext cx="6912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950" dirty="0"/>
          </a:p>
        </p:txBody>
      </p:sp>
      <p:sp>
        <p:nvSpPr>
          <p:cNvPr id="73" name="Text 6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74" name="Text 62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Orchestration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5097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auditable: task, models, permitted parameters and outputs — exactly what the PS evaluates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093976" cy="1691640"/>
          </a:xfrm>
          <a:prstGeom prst="roundRect">
            <a:avLst>
              <a:gd name="adj" fmla="val 4324"/>
            </a:avLst>
          </a:prstGeom>
          <a:solidFill>
            <a:srgbClr val="0A1128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5448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6" name="Image 0" descr="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796" y="1654332"/>
            <a:ext cx="184343" cy="184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6093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Interpret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94944" y="2029968"/>
            <a:ext cx="180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parsed; task classified into VQA / caption / grounding / change / fusion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656332" y="2157984"/>
            <a:ext cx="182880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10" name="Shape 7"/>
          <p:cNvSpPr/>
          <p:nvPr/>
        </p:nvSpPr>
        <p:spPr>
          <a:xfrm>
            <a:off x="2862072" y="1417320"/>
            <a:ext cx="2093976" cy="1691640"/>
          </a:xfrm>
          <a:prstGeom prst="roundRect">
            <a:avLst>
              <a:gd name="adj" fmla="val 4324"/>
            </a:avLst>
          </a:prstGeom>
          <a:solidFill>
            <a:srgbClr val="0A1128"/>
          </a:solidFill>
          <a:ln/>
        </p:spPr>
      </p:sp>
      <p:sp>
        <p:nvSpPr>
          <p:cNvPr id="11" name="Shape 8"/>
          <p:cNvSpPr/>
          <p:nvPr/>
        </p:nvSpPr>
        <p:spPr>
          <a:xfrm>
            <a:off x="3008376" y="155448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icons/shiel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28" y="1654332"/>
            <a:ext cx="184343" cy="1843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65576" y="16093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Validate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008376" y="2029968"/>
            <a:ext cx="180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modality, format, CRS &amp; co-registration checked before anything runs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969764" y="2157984"/>
            <a:ext cx="182880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16" name="Shape 12"/>
          <p:cNvSpPr/>
          <p:nvPr/>
        </p:nvSpPr>
        <p:spPr>
          <a:xfrm>
            <a:off x="5175504" y="1417320"/>
            <a:ext cx="2093976" cy="1691640"/>
          </a:xfrm>
          <a:prstGeom prst="roundRect">
            <a:avLst>
              <a:gd name="adj" fmla="val 4324"/>
            </a:avLst>
          </a:prstGeom>
          <a:solidFill>
            <a:srgbClr val="0A1128"/>
          </a:solidFill>
          <a:ln/>
        </p:spPr>
      </p:sp>
      <p:sp>
        <p:nvSpPr>
          <p:cNvPr id="17" name="Shape 13"/>
          <p:cNvSpPr/>
          <p:nvPr/>
        </p:nvSpPr>
        <p:spPr>
          <a:xfrm>
            <a:off x="5321808" y="155448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8" name="Image 2" descr="icons/rout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660" y="1654332"/>
            <a:ext cx="184343" cy="184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779008" y="16093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Select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5321808" y="2029968"/>
            <a:ext cx="180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chosen from registry; only permitted parameters configured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283196" y="2157984"/>
            <a:ext cx="182880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22" name="Shape 17"/>
          <p:cNvSpPr/>
          <p:nvPr/>
        </p:nvSpPr>
        <p:spPr>
          <a:xfrm>
            <a:off x="7488936" y="1417320"/>
            <a:ext cx="2093976" cy="1691640"/>
          </a:xfrm>
          <a:prstGeom prst="roundRect">
            <a:avLst>
              <a:gd name="adj" fmla="val 4324"/>
            </a:avLst>
          </a:prstGeom>
          <a:solidFill>
            <a:srgbClr val="0A1128"/>
          </a:solidFill>
          <a:ln/>
        </p:spPr>
      </p:sp>
      <p:sp>
        <p:nvSpPr>
          <p:cNvPr id="23" name="Shape 18"/>
          <p:cNvSpPr/>
          <p:nvPr/>
        </p:nvSpPr>
        <p:spPr>
          <a:xfrm>
            <a:off x="7635240" y="155448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4" name="Image 3" descr="icons/gea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092" y="1654332"/>
            <a:ext cx="184343" cy="18434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092440" y="16093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Execute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7635240" y="2029968"/>
            <a:ext cx="180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runs; spatial + textual outputs collected with confidence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9596628" y="2157984"/>
            <a:ext cx="182880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28" name="Shape 22"/>
          <p:cNvSpPr/>
          <p:nvPr/>
        </p:nvSpPr>
        <p:spPr>
          <a:xfrm>
            <a:off x="9802368" y="1417320"/>
            <a:ext cx="2093976" cy="1691640"/>
          </a:xfrm>
          <a:prstGeom prst="roundRect">
            <a:avLst>
              <a:gd name="adj" fmla="val 4324"/>
            </a:avLst>
          </a:prstGeom>
          <a:solidFill>
            <a:srgbClr val="0A1128"/>
          </a:solidFill>
          <a:ln/>
        </p:spPr>
      </p:sp>
      <p:sp>
        <p:nvSpPr>
          <p:cNvPr id="29" name="Shape 23"/>
          <p:cNvSpPr/>
          <p:nvPr/>
        </p:nvSpPr>
        <p:spPr>
          <a:xfrm>
            <a:off x="9948672" y="155448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30" name="Image 4" descr="icons/fil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8524" y="1654332"/>
            <a:ext cx="184343" cy="18434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405872" y="16093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Audit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9948672" y="2029968"/>
            <a:ext cx="18013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summary logged: task · models · params · trace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3401568"/>
            <a:ext cx="6766560" cy="2761488"/>
          </a:xfrm>
          <a:prstGeom prst="roundRect">
            <a:avLst>
              <a:gd name="adj" fmla="val 2649"/>
            </a:avLst>
          </a:prstGeom>
          <a:solidFill>
            <a:srgbClr val="0B1020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86384" y="354787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TRACE — CAPTURED FROM THE LIVE PROTOTYPE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786384" y="3840480"/>
            <a:ext cx="6355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[19:09:16] query: "Has the built-up area increased…"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[19:09:16] task classified -&gt; CHANGE-BASED VQA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[19:09:17] inputs valid · 2 images · CRS aligned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[19:09:17] selected changeformer-cdvqa · Δt=24mo · tile=256 · thresh=0.35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[19:09:19] inference complete · outputs integrated · confidence 89%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FE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[19:09:19] trace: task=change model=changeformer-cdvqa params=[Δt=24mo · tile=256]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7589520" y="3401568"/>
            <a:ext cx="4041648" cy="2761488"/>
          </a:xfrm>
          <a:prstGeom prst="roundRect">
            <a:avLst>
              <a:gd name="adj" fmla="val 2649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790688" y="3584448"/>
            <a:ext cx="420624" cy="420624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8" name="Image 5" descr="icons/shield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050" y="3693810"/>
            <a:ext cx="201900" cy="20190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8339328" y="36393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when it should</a:t>
            </a:r>
            <a:endParaRPr lang="en-US" sz="1350" dirty="0"/>
          </a:p>
        </p:txBody>
      </p:sp>
      <p:sp>
        <p:nvSpPr>
          <p:cNvPr id="40" name="Text 32"/>
          <p:cNvSpPr txBox="1"/>
          <p:nvPr/>
        </p:nvSpPr>
        <p:spPr>
          <a:xfrm>
            <a:off x="7790688" y="405993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change question with only one image and the validator rejects execution before any model runs — then tells the user what input is missing. Compatibility checking isn't a checkbox for us; it's demonstrable behaviour in the live demo.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7790688" y="5596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FAILED · requires a bi-temporal pair</a:t>
            </a:r>
            <a:endParaRPr lang="en-US" sz="950" dirty="0"/>
          </a:p>
        </p:txBody>
      </p:sp>
      <p:sp>
        <p:nvSpPr>
          <p:cNvPr id="42" name="Text 3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Remote-Sensing Adaptation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5097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BigEarthNet.txt (arXiv:2603.29630) — the prescribed dataset, and a perfect match for the ISRO/SAC evaluation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89888"/>
            <a:ext cx="2688336" cy="1060704"/>
          </a:xfrm>
          <a:prstGeom prst="roundRect">
            <a:avLst>
              <a:gd name="adj" fmla="val 8621"/>
            </a:avLst>
          </a:prstGeom>
          <a:solidFill>
            <a:srgbClr val="0A11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464,044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CO-REGISTERED S1 + S2 PAIRS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46704" y="1389888"/>
            <a:ext cx="2688336" cy="1060704"/>
          </a:xfrm>
          <a:prstGeom prst="roundRect">
            <a:avLst>
              <a:gd name="adj" fmla="val 8621"/>
            </a:avLst>
          </a:prstGeom>
          <a:solidFill>
            <a:srgbClr val="0A11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9584" y="148132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ANNOTATIONS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44768" y="1389888"/>
            <a:ext cx="2688336" cy="1060704"/>
          </a:xfrm>
          <a:prstGeom prst="roundRect">
            <a:avLst>
              <a:gd name="adj" fmla="val 8621"/>
            </a:avLst>
          </a:prstGeom>
          <a:solidFill>
            <a:srgbClr val="0A11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27648" y="148132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TYPES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42832" y="1389888"/>
            <a:ext cx="2688336" cy="1060704"/>
          </a:xfrm>
          <a:prstGeom prst="roundRect">
            <a:avLst>
              <a:gd name="adj" fmla="val 8621"/>
            </a:avLst>
          </a:prstGeom>
          <a:solidFill>
            <a:srgbClr val="0A11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25712" y="148132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CC-BY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LICENSE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8833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ANNOTATION STREAM TRAINS ONE OF OUR SPECIALISTS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35808"/>
            <a:ext cx="11082528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18" name="Image 0" descr="icons/cha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29184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88720" y="314553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Geographically anchored captions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257800" y="31455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LULC classes, spatial relations, environmental context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869680" y="3319272"/>
            <a:ext cx="219456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189720" y="314553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geocap-ground-v1 · captioning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11082528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24" name="Image 1" descr="icons/eye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4187952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188720" y="40416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VQA pairs across task types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257800" y="404164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Question–answer supervision on real S1/S2 patches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869680" y="4215384"/>
            <a:ext cx="219456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189720" y="404164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rsvqa-lora-v2 · single-image VQA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4828032"/>
            <a:ext cx="11082528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30" name="Image 2" descr="icons/map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84064"/>
            <a:ext cx="274320" cy="2743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88720" y="4937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Referring-expression detection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5257800" y="4937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instructions with bounding-box targets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869680" y="5111496"/>
            <a:ext cx="219456" cy="219456"/>
          </a:xfrm>
          <a:prstGeom prst="rightArrow">
            <a:avLst/>
          </a:prstGeom>
          <a:solidFill>
            <a:srgbClr val="B6C4D9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9189720" y="49377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geocap-ground-v1 · grounding head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548640" y="5760720"/>
            <a:ext cx="11082528" cy="713232"/>
          </a:xfrm>
          <a:prstGeom prst="roundRect">
            <a:avLst>
              <a:gd name="adj" fmla="val 12821"/>
            </a:avLst>
          </a:prstGeom>
          <a:solidFill>
            <a:srgbClr val="063B57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804672" y="576072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PLAN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 backbone · 4-bit NF4 quantisation · LoRA r=16 (&lt;1% trainable params) · one adapter per specialist · fits a single free T4 GPU — script already in the repo (src/train/finetune_lora.py)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Plan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5097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judging protocol: prescribed test splits, normalised scores, and the ISRO/SAC hidden set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11082528" cy="457200"/>
          </a:xfrm>
          <a:prstGeom prst="roundRect">
            <a:avLst>
              <a:gd name="adj" fmla="val 10000"/>
            </a:avLst>
          </a:prstGeom>
          <a:solidFill>
            <a:srgbClr val="0A1128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42646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4264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EVALUATED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4264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555480" y="14264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SPECIALIST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938528"/>
            <a:ext cx="11082528" cy="658368"/>
          </a:xfrm>
          <a:prstGeom prst="roundRect">
            <a:avLst>
              <a:gd name="adj" fmla="val 6944"/>
            </a:avLst>
          </a:prstGeom>
          <a:solidFill>
            <a:srgbClr val="F7FAFD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19385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VRSBench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Captioning · grounding · VQA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938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BLEU-4 / CIDEr · IoU@0.5 · accuracy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555480" y="19385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geocap-ground-v1 · rsvqa-lora-v2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11082528" cy="658368"/>
          </a:xfrm>
          <a:prstGeom prst="roundRect">
            <a:avLst>
              <a:gd name="adj" fmla="val 6944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26700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RSVQA (LR/HR)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267004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Single-image VQA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700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accuracy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555480" y="26700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rsvqa-lora-v2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11082528" cy="658368"/>
          </a:xfrm>
          <a:prstGeom prst="roundRect">
            <a:avLst>
              <a:gd name="adj" fmla="val 6944"/>
            </a:avLst>
          </a:prstGeom>
          <a:solidFill>
            <a:srgbClr val="F7FAFD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4015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CDVQA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4015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Change-based VQA (bi-temporal)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4015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accuracy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555480" y="340156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changeformer-cdvqa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11082528" cy="658368"/>
          </a:xfrm>
          <a:prstGeom prst="roundRect">
            <a:avLst>
              <a:gd name="adj" fmla="val 6944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1330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BigEarthNet.txt bench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41330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verified in-domain split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13308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Task-native metrics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555480" y="413308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four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974336"/>
            <a:ext cx="11082528" cy="1463040"/>
          </a:xfrm>
          <a:prstGeom prst="roundRect">
            <a:avLst>
              <a:gd name="adj" fmla="val 6250"/>
            </a:avLst>
          </a:prstGeom>
          <a:solidFill>
            <a:srgbClr val="0A11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68096" y="5193792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1" name="Image 0" descr="icons/satellit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5312664"/>
            <a:ext cx="219456" cy="21945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5138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THE ISRO/SAC HIDDEN SET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17320" y="5431536"/>
            <a:ext cx="9966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evaluation uses pre-georeferenced, co-registered Cartosat-2S optical + RISAT SAR pairs with undisclosed annotations. Our transfer strategy: multisensor S1+S2 adaptation (same optical+SAR pairing), SAR-style speckle &amp; resolution augmentation, strict GDAL input validation, and normalised per-task scoring identical to the published protocol — no surprises on judging day.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&amp; Viability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Buildable in hackathon time — every risk has a concrete mitigation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4718304"/>
          </a:xfrm>
          <a:prstGeom prst="roundRect">
            <a:avLst>
              <a:gd name="adj" fmla="val 2222"/>
            </a:avLst>
          </a:prstGeom>
          <a:solidFill>
            <a:srgbClr val="0A11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64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FEASIBLE</a:t>
            </a:r>
            <a:endParaRPr lang="en-US" sz="1100" dirty="0"/>
          </a:p>
        </p:txBody>
      </p:sp>
      <p:pic>
        <p:nvPicPr>
          <p:cNvPr id="6" name="Image 0" descr="icons/chec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482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0299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open data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30428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BigEarthNet, VRSBench, RSVQA and CDVQA are all public — training and evaluation can start on day one.</a:t>
            </a:r>
            <a:endParaRPr lang="en-US" sz="1050" dirty="0"/>
          </a:p>
        </p:txBody>
      </p:sp>
      <p:pic>
        <p:nvPicPr>
          <p:cNvPr id="9" name="Image 1" descr="icons/check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30632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open baselines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33375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RS-tuned VLMs (GeoChat, RemoteCLIP) and change models exist; we adapt, not reinvent.</a:t>
            </a:r>
            <a:endParaRPr lang="en-US" sz="1050" dirty="0"/>
          </a:p>
        </p:txBody>
      </p:sp>
      <p:pic>
        <p:nvPicPr>
          <p:cNvPr id="12" name="Image 2" descr="icons/check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114800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40965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Parameter-efficient tuning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437083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fine-tunes &lt;1% of weights — trains on a single free/college GPU (Colab/Kaggle T4).</a:t>
            </a:r>
            <a:endParaRPr lang="en-US" sz="1050" dirty="0"/>
          </a:p>
        </p:txBody>
      </p:sp>
      <p:pic>
        <p:nvPicPr>
          <p:cNvPr id="15" name="Image 3" descr="icons/check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14807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51297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agentic design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540410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tool is built and tested independently, then registered — parallel teamwork.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4937760" y="1463040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 →  MITIGATIONS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937760" y="1828800"/>
            <a:ext cx="6702552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20" name="Image 4" descr="icons/warn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2" y="2130552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68112" y="1920240"/>
            <a:ext cx="2697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GPU compute for VLM training</a:t>
            </a:r>
            <a:endParaRPr lang="en-US" sz="1050" dirty="0"/>
          </a:p>
        </p:txBody>
      </p:sp>
      <p:pic>
        <p:nvPicPr>
          <p:cNvPr id="22" name="Image 5" descr="icons/bolt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2139696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558784" y="1901952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LoRA/PEFT + 4-bit quantised inference; frozen backbone, small adapters per task.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4937760" y="2711196"/>
            <a:ext cx="6702552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25" name="Image 6" descr="icons/warn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52" y="301294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468112" y="2802636"/>
            <a:ext cx="2697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GeoTIFF &amp; multi-band sensor handling</a:t>
            </a:r>
            <a:endParaRPr lang="en-US" sz="1050" dirty="0"/>
          </a:p>
        </p:txBody>
      </p:sp>
      <p:pic>
        <p:nvPicPr>
          <p:cNvPr id="27" name="Image 7" descr="icons/bolt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302209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558784" y="2784348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GDAL/rasterio preprocessing layer: band selection, normalisation, tiling, CRS checks before models.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4937760" y="3593592"/>
            <a:ext cx="6702552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30" name="Image 8" descr="icons/warn_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352" y="3895344"/>
            <a:ext cx="237744" cy="237744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5468112" y="3685032"/>
            <a:ext cx="2697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gap — Cartosat-2S / RISAT eval data</a:t>
            </a:r>
            <a:endParaRPr lang="en-US" sz="1050" dirty="0"/>
          </a:p>
        </p:txBody>
      </p:sp>
      <p:pic>
        <p:nvPicPr>
          <p:cNvPr id="32" name="Image 9" descr="icons/bolt_c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7888" y="3904488"/>
            <a:ext cx="201168" cy="201168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8558784" y="3666744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Multisensor BigEarthNet adaptation + SAR-style augmentation &amp; resolution jitter for transfer.</a:t>
            </a:r>
            <a:endParaRPr lang="en-US" sz="1000" dirty="0"/>
          </a:p>
        </p:txBody>
      </p:sp>
      <p:sp>
        <p:nvSpPr>
          <p:cNvPr id="34" name="Shape 22"/>
          <p:cNvSpPr/>
          <p:nvPr/>
        </p:nvSpPr>
        <p:spPr>
          <a:xfrm>
            <a:off x="4937760" y="4475988"/>
            <a:ext cx="6702552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35" name="Image 10" descr="icons/warn_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2352" y="4777740"/>
            <a:ext cx="237744" cy="237744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5468112" y="4567428"/>
            <a:ext cx="2697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hallucination on unfamiliar scenes</a:t>
            </a:r>
            <a:endParaRPr lang="en-US" sz="1050" dirty="0"/>
          </a:p>
        </p:txBody>
      </p:sp>
      <p:pic>
        <p:nvPicPr>
          <p:cNvPr id="37" name="Image 11" descr="icons/bolt_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47888" y="4786884"/>
            <a:ext cx="201168" cy="201168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8558784" y="4549140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outputs (masks/boxes), confidence thresholds, validator rejects incompatible inputs.</a:t>
            </a:r>
            <a:endParaRPr lang="en-US" sz="1000" dirty="0"/>
          </a:p>
        </p:txBody>
      </p:sp>
      <p:sp>
        <p:nvSpPr>
          <p:cNvPr id="39" name="Shape 25"/>
          <p:cNvSpPr/>
          <p:nvPr/>
        </p:nvSpPr>
        <p:spPr>
          <a:xfrm>
            <a:off x="4937760" y="5358384"/>
            <a:ext cx="6702552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pic>
        <p:nvPicPr>
          <p:cNvPr id="40" name="Image 12" descr="icons/warn_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2352" y="5660136"/>
            <a:ext cx="237744" cy="237744"/>
          </a:xfrm>
          <a:prstGeom prst="rect">
            <a:avLst/>
          </a:prstGeom>
        </p:spPr>
      </p:pic>
      <p:sp>
        <p:nvSpPr>
          <p:cNvPr id="41" name="Text 26"/>
          <p:cNvSpPr txBox="1"/>
          <p:nvPr/>
        </p:nvSpPr>
        <p:spPr>
          <a:xfrm>
            <a:off x="5468112" y="5449824"/>
            <a:ext cx="2697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orchestration failing live</a:t>
            </a:r>
            <a:endParaRPr lang="en-US" sz="1050" dirty="0"/>
          </a:p>
        </p:txBody>
      </p:sp>
      <p:pic>
        <p:nvPicPr>
          <p:cNvPr id="42" name="Image 13" descr="icons/bolt_c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47888" y="5669280"/>
            <a:ext cx="201168" cy="201168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8558784" y="5431536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task-routing rules + full execution trace; graceful fallback to single-image VQA.</a:t>
            </a:r>
            <a:endParaRPr lang="en-US" sz="1000" dirty="0"/>
          </a:p>
        </p:txBody>
      </p:sp>
      <p:sp>
        <p:nvSpPr>
          <p:cNvPr id="44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45" name="Text 29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Benefits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Democratising India's satellite data — from expert-only pipelines to a question anyone can ask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45920"/>
            <a:ext cx="420624" cy="420624"/>
          </a:xfrm>
          <a:prstGeom prst="ellipse">
            <a:avLst/>
          </a:prstGeom>
          <a:solidFill>
            <a:srgbClr val="2C8A4A"/>
          </a:solidFill>
          <a:ln/>
        </p:spPr>
      </p:sp>
      <p:pic>
        <p:nvPicPr>
          <p:cNvPr id="6" name="Image 0" descr="icons/seedl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594" y="1755282"/>
            <a:ext cx="201900" cy="201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2763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90195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&amp; land-cover monitoring by simple queries each season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06824" y="1481328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71416" y="1645920"/>
            <a:ext cx="420624" cy="420624"/>
          </a:xfrm>
          <a:prstGeom prst="ellipse">
            <a:avLst/>
          </a:prstGeom>
          <a:solidFill>
            <a:srgbClr val="0E7490"/>
          </a:solidFill>
          <a:ln/>
        </p:spPr>
      </p:sp>
      <p:pic>
        <p:nvPicPr>
          <p:cNvPr id="11" name="Image 1" descr="icons/floo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778" y="1755282"/>
            <a:ext cx="201900" cy="201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0056" y="162763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020056" y="190195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sees through clouds — flood &amp; damage answers day or night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065008" y="1481328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0" y="1645920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icons/cit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8962" y="175528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78240" y="162763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Planning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778240" y="190195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“Has built-up area increased?” answered with change maps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2779776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13232" y="2944368"/>
            <a:ext cx="420624" cy="420624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21" name="Image 3" descr="icons/tre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3053730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292608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Forest &amp; Ecology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1261872" y="3200400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 and vegetation change tracked over time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306824" y="2779776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71416" y="2944368"/>
            <a:ext cx="420624" cy="42062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26" name="Image 4" descr="icons/glob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778" y="3053730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20056" y="292608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Resources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020056" y="3200400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bodies grounded &amp; monitored across optical + SAR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65008" y="2779776"/>
            <a:ext cx="3566160" cy="1133856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29600" y="2944368"/>
            <a:ext cx="420624" cy="420624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1" name="Image 5" descr="icons/gears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8962" y="3053730"/>
            <a:ext cx="201900" cy="2019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778240" y="292608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778240" y="3200400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 monitoring assets from multimodal imagery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48640" y="4041648"/>
            <a:ext cx="11082528" cy="658368"/>
          </a:xfrm>
          <a:prstGeom prst="roundRect">
            <a:avLst>
              <a:gd name="adj" fmla="val 11111"/>
            </a:avLst>
          </a:prstGeom>
          <a:solidFill>
            <a:srgbClr val="0A1128"/>
          </a:solidFill>
          <a:ln/>
        </p:spPr>
      </p:sp>
      <p:sp>
        <p:nvSpPr>
          <p:cNvPr id="35" name="Shape 27"/>
          <p:cNvSpPr/>
          <p:nvPr/>
        </p:nvSpPr>
        <p:spPr>
          <a:xfrm>
            <a:off x="694944" y="4178808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36" name="Image 6" descr="icons/users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796" y="4278660"/>
            <a:ext cx="184343" cy="18434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243584" y="404164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560320" y="4041648"/>
            <a:ext cx="8961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Non-experts — district officials, farmers' bodies, NGOs — extract insight from satellite imagery without GIS training, in natural language.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548640" y="4791456"/>
            <a:ext cx="11082528" cy="658368"/>
          </a:xfrm>
          <a:prstGeom prst="roundRect">
            <a:avLst>
              <a:gd name="adj" fmla="val 11111"/>
            </a:avLst>
          </a:prstGeom>
          <a:solidFill>
            <a:srgbClr val="0A1128"/>
          </a:solidFill>
          <a:ln/>
        </p:spPr>
      </p:sp>
      <p:sp>
        <p:nvSpPr>
          <p:cNvPr id="40" name="Shape 31"/>
          <p:cNvSpPr/>
          <p:nvPr/>
        </p:nvSpPr>
        <p:spPr>
          <a:xfrm>
            <a:off x="694944" y="4928616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41" name="Image 7" descr="icons/char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796" y="5028468"/>
            <a:ext cx="184343" cy="184343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243584" y="479145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2560320" y="4791456"/>
            <a:ext cx="8961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hours of manual multi-tool GIS analysis to seconds per query; one platform replaces many single-task systems — lower cost per insight.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548640" y="5541264"/>
            <a:ext cx="11082528" cy="658368"/>
          </a:xfrm>
          <a:prstGeom prst="roundRect">
            <a:avLst>
              <a:gd name="adj" fmla="val 11111"/>
            </a:avLst>
          </a:prstGeom>
          <a:solidFill>
            <a:srgbClr val="0A1128"/>
          </a:solidFill>
          <a:ln/>
        </p:spPr>
      </p:sp>
      <p:sp>
        <p:nvSpPr>
          <p:cNvPr id="45" name="Shape 35"/>
          <p:cNvSpPr/>
          <p:nvPr/>
        </p:nvSpPr>
        <p:spPr>
          <a:xfrm>
            <a:off x="694944" y="567842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46" name="Image 8" descr="icons/rocket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796" y="5778276"/>
            <a:ext cx="184343" cy="184343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541264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2560320" y="5541264"/>
            <a:ext cx="8961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the value of ISRO's Cartosat &amp; RISAT missions and EO archives; auditable, evidence-grounded AI fit for governance use.</a:t>
            </a:r>
            <a:endParaRPr lang="en-US" sz="1050" dirty="0"/>
          </a:p>
        </p:txBody>
      </p:sp>
      <p:sp>
        <p:nvSpPr>
          <p:cNvPr id="49" name="Text 3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to Finals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5097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system is already public — the rest has scripts waiting for GPU hours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0A11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— PUBLIC TODAY</a:t>
            </a:r>
            <a:endParaRPr lang="en-US" sz="1100" dirty="0"/>
          </a:p>
        </p:txBody>
      </p:sp>
      <p:pic>
        <p:nvPicPr>
          <p:cNvPr id="6" name="Image 0" descr="icons/chec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11680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99339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console deployed on GitHub Pages (all 5 tasks, 3 input scopes, evidence overlays)</a:t>
            </a:r>
            <a:endParaRPr lang="en-US" sz="1050" dirty="0"/>
          </a:p>
        </p:txBody>
      </p:sp>
      <p:pic>
        <p:nvPicPr>
          <p:cNvPr id="8" name="Image 1" descr="icons/check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72491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270662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controller + GDAL validator + model registry — tested Python package in the repo</a:t>
            </a:r>
            <a:endParaRPr lang="en-US" sz="1050" dirty="0"/>
          </a:p>
        </p:txBody>
      </p:sp>
      <p:pic>
        <p:nvPicPr>
          <p:cNvPr id="10" name="Image 2" descr="icons/check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438144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5568" y="34198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/analyze backend, Dockerised, Render blueprint, one-click deploy</a:t>
            </a:r>
            <a:endParaRPr lang="en-US" sz="1050" dirty="0"/>
          </a:p>
        </p:txBody>
      </p:sp>
      <p:pic>
        <p:nvPicPr>
          <p:cNvPr id="12" name="Image 3" descr="icons/check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151376"/>
            <a:ext cx="201168" cy="20116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4133088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execution trace + downloadable analysis reports</a:t>
            </a:r>
            <a:endParaRPr lang="en-US" sz="1050" dirty="0"/>
          </a:p>
        </p:txBody>
      </p:sp>
      <p:pic>
        <p:nvPicPr>
          <p:cNvPr id="14" name="Image 4" descr="icons/check_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864608"/>
            <a:ext cx="201168" cy="20116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115568" y="484632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fine-tuning &amp; benchmark evaluation scripts (BigEarthNet.txt ready)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6236208" y="1426464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1F5F9"/>
          </a:solidFill>
          <a:ln w="12700">
            <a:solidFill>
              <a:srgbClr val="DBE4E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492240" y="16276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 SPRINT — 4 WEEKS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6492240" y="2048256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DE8D8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6492240" y="204825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7205472" y="200253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fine-tune VQA + caption adapters on BigEarthNet.txt (Colab/Kaggle T4)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492240" y="2916936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DE8D8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6492240" y="291693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7205472" y="287121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grounding &amp; change heads; wire adapters into the registry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6492240" y="3785616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DE8D8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6492240" y="378561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150" dirty="0"/>
          </a:p>
        </p:txBody>
      </p:sp>
      <p:sp>
        <p:nvSpPr>
          <p:cNvPr id="26" name="Text 19"/>
          <p:cNvSpPr txBox="1"/>
          <p:nvPr/>
        </p:nvSpPr>
        <p:spPr>
          <a:xfrm>
            <a:off x="7205472" y="373989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on VRSBench / RSVQA / CDVQA prescribed splits; tune thresholds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6492240" y="4654296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DE8D8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92240" y="46542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150" dirty="0"/>
          </a:p>
        </p:txBody>
      </p:sp>
      <p:sp>
        <p:nvSpPr>
          <p:cNvPr id="29" name="Text 22"/>
          <p:cNvSpPr txBox="1"/>
          <p:nvPr/>
        </p:nvSpPr>
        <p:spPr>
          <a:xfrm>
            <a:off x="7205472" y="460857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Cartosat/RISAT domain hardening · load-test API · dry-run the full demo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58704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De-risked by design: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frontend, orchestration, validation and API contract are already proven — finals work is training weights and plugging them into an interface that exists.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0" y="17373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822960"/>
            <a:ext cx="22860" cy="22860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45720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73152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778240" y="14630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0" y="457200"/>
            <a:ext cx="25603" cy="25603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0" y="1097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5394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560320" y="6217920"/>
            <a:ext cx="23774" cy="23774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480560" y="5760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6309360"/>
            <a:ext cx="21946" cy="21946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0" y="566928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47120" y="6126480"/>
            <a:ext cx="27432" cy="27432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852160" y="118872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881360" y="310896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291840"/>
            <a:ext cx="20117" cy="20117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04320" y="4663440"/>
            <a:ext cx="18288" cy="18288"/>
          </a:xfrm>
          <a:prstGeom prst="ellipse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References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9692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exact datasets and evaluation plan prescribed by the problem statement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1481328"/>
            <a:ext cx="5577840" cy="3291840"/>
          </a:xfrm>
          <a:prstGeom prst="roundRect">
            <a:avLst>
              <a:gd name="adj" fmla="val 2778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16459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(as prescribed)</a:t>
            </a:r>
            <a:endParaRPr lang="en-US" sz="1100" dirty="0"/>
          </a:p>
        </p:txBody>
      </p:sp>
      <p:pic>
        <p:nvPicPr>
          <p:cNvPr id="24" name="Image 0" descr="icons/database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993392"/>
            <a:ext cx="237744" cy="23774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52144" y="1975104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BigEarthNet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22219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fine-tuning — co-registered Sentinel-1 SAR + Sentinel-2 multispectral with text annotations (arxiv.org/abs/2603.29630)</a:t>
            </a:r>
            <a:endParaRPr lang="en-US" sz="1000" dirty="0"/>
          </a:p>
        </p:txBody>
      </p:sp>
      <p:pic>
        <p:nvPicPr>
          <p:cNvPr id="27" name="Image 1" descr="icons/database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852928"/>
            <a:ext cx="237744" cy="23774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152144" y="283464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VRSBench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1152144" y="30815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single-image captioning, grounding &amp; VQA</a:t>
            </a:r>
            <a:endParaRPr lang="en-US" sz="1000" dirty="0"/>
          </a:p>
        </p:txBody>
      </p:sp>
      <p:pic>
        <p:nvPicPr>
          <p:cNvPr id="30" name="Image 2" descr="icons/databas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49300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52144" y="347472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RSVQA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" y="37216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remote-sensing visual question answering</a:t>
            </a:r>
            <a:endParaRPr lang="en-US" sz="1000" dirty="0"/>
          </a:p>
        </p:txBody>
      </p:sp>
      <p:pic>
        <p:nvPicPr>
          <p:cNvPr id="33" name="Image 3" descr="icons/databas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413308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152144" y="411480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CDVQA</a:t>
            </a:r>
            <a:endParaRPr lang="en-US" sz="1250" dirty="0"/>
          </a:p>
        </p:txBody>
      </p:sp>
      <p:sp>
        <p:nvSpPr>
          <p:cNvPr id="35" name="Text 29"/>
          <p:cNvSpPr txBox="1"/>
          <p:nvPr/>
        </p:nvSpPr>
        <p:spPr>
          <a:xfrm>
            <a:off x="1152144" y="436168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multitemporal change-based VQA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6355080" y="1481328"/>
            <a:ext cx="5285232" cy="3291840"/>
          </a:xfrm>
          <a:prstGeom prst="roundRect">
            <a:avLst>
              <a:gd name="adj" fmla="val 2778"/>
            </a:avLst>
          </a:prstGeom>
          <a:solidFill>
            <a:srgbClr val="13203F"/>
          </a:solidFill>
          <a:ln w="12700">
            <a:solidFill>
              <a:srgbClr val="2D4270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592824" y="164592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 WE BUILD ON</a:t>
            </a:r>
            <a:endParaRPr lang="en-US" sz="1100" dirty="0"/>
          </a:p>
        </p:txBody>
      </p:sp>
      <p:pic>
        <p:nvPicPr>
          <p:cNvPr id="38" name="Image 4" descr="icons/boo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2011680"/>
            <a:ext cx="237744" cy="237744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6958584" y="1993392"/>
            <a:ext cx="4416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GeoChat (CVPR 2024)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6958584" y="2240280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VLM for remote sensing — base for adaptation</a:t>
            </a:r>
            <a:endParaRPr lang="en-US" sz="1000" dirty="0"/>
          </a:p>
        </p:txBody>
      </p:sp>
      <p:pic>
        <p:nvPicPr>
          <p:cNvPr id="41" name="Image 5" descr="icons/boo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2734056"/>
            <a:ext cx="237744" cy="237744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6958584" y="2715768"/>
            <a:ext cx="4416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RemoteCLIP (2024)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6958584" y="2962656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vision-language representation learning</a:t>
            </a:r>
            <a:endParaRPr lang="en-US" sz="1000" dirty="0"/>
          </a:p>
        </p:txBody>
      </p:sp>
      <p:pic>
        <p:nvPicPr>
          <p:cNvPr id="44" name="Image 6" descr="icons/boo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4" y="3456432"/>
            <a:ext cx="237744" cy="237744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6958584" y="3438144"/>
            <a:ext cx="4416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RSVQA (TGRS 2020) &amp; CDVQA (TGRS 2022)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6958584" y="368503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formulations for RS-VQA and change-VQA</a:t>
            </a:r>
            <a:endParaRPr lang="en-US" sz="1000" dirty="0"/>
          </a:p>
        </p:txBody>
      </p:sp>
      <p:pic>
        <p:nvPicPr>
          <p:cNvPr id="47" name="Image 7" descr="icons/book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4" y="4178808"/>
            <a:ext cx="237744" cy="23774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958584" y="4160520"/>
            <a:ext cx="4416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(ICLR 2022)</a:t>
            </a:r>
            <a:endParaRPr lang="en-US" sz="1200" dirty="0"/>
          </a:p>
        </p:txBody>
      </p:sp>
      <p:sp>
        <p:nvSpPr>
          <p:cNvPr id="49" name="Text 39"/>
          <p:cNvSpPr txBox="1"/>
          <p:nvPr/>
        </p:nvSpPr>
        <p:spPr>
          <a:xfrm>
            <a:off x="6958584" y="44074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C2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fine-tuning under low compute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548640" y="4956048"/>
            <a:ext cx="11091672" cy="1170432"/>
          </a:xfrm>
          <a:prstGeom prst="roundRect">
            <a:avLst>
              <a:gd name="adj" fmla="val 7813"/>
            </a:avLst>
          </a:prstGeom>
          <a:solidFill>
            <a:srgbClr val="063B57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713232" y="5084064"/>
            <a:ext cx="914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</p:spPr>
      </p:sp>
      <p:pic>
        <p:nvPicPr>
          <p:cNvPr id="52" name="Image 8" descr="qr_dem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148072"/>
            <a:ext cx="786384" cy="786384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1810512" y="5084064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gangadhar017.github.io/Lunar_circle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DECK + BACKEND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5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github.com/Gangadhar017/Lunar_circle</a:t>
            </a:r>
            <a:endParaRPr lang="en-US" sz="1100" dirty="0"/>
          </a:p>
        </p:txBody>
      </p:sp>
      <p:sp>
        <p:nvSpPr>
          <p:cNvPr id="54" name="Text 43"/>
          <p:cNvSpPr txBox="1"/>
          <p:nvPr/>
        </p:nvSpPr>
        <p:spPr>
          <a:xfrm>
            <a:off x="9052560" y="50840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algn="r" indent="0" marL="0">
              <a:lnSpc>
                <a:spcPct val="115000"/>
              </a:lnSpc>
              <a:buNone/>
            </a:pPr>
            <a:r>
              <a:rPr lang="en-US" sz="1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CIRCLE</a:t>
            </a:r>
            <a:endParaRPr lang="en-US" sz="1100" dirty="0"/>
          </a:p>
        </p:txBody>
      </p:sp>
      <p:sp>
        <p:nvSpPr>
          <p:cNvPr id="55" name="Text 4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 ·  PS 26167  ·  Smart India Hackathon — Internal Round</a:t>
            </a:r>
            <a:endParaRPr lang="en-US" sz="900" dirty="0"/>
          </a:p>
        </p:txBody>
      </p:sp>
      <p:sp>
        <p:nvSpPr>
          <p:cNvPr id="56" name="Text 45"/>
          <p:cNvSpPr txBox="1"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2026-08-31T19:18:05Z</dcterms:created>
  <dcterms:modified xsi:type="dcterms:W3CDTF">2026-08-31T19:18:05Z</dcterms:modified>
</cp:coreProperties>
</file>