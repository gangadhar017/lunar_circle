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1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5.png"/><Relationship Id="rId8" Type="http://schemas.openxmlformats.org/officeDocument/2006/relationships/image" Target="../media/image-4-6.png"/><Relationship Id="rId9" Type="http://schemas.openxmlformats.org/officeDocument/2006/relationships/image" Target="../media/image-4-5.png"/><Relationship Id="rId10" Type="http://schemas.openxmlformats.org/officeDocument/2006/relationships/image" Target="../media/image-4-6.png"/><Relationship Id="rId11" Type="http://schemas.openxmlformats.org/officeDocument/2006/relationships/image" Target="../media/image-4-5.png"/><Relationship Id="rId12" Type="http://schemas.openxmlformats.org/officeDocument/2006/relationships/image" Target="../media/image-4-6.png"/><Relationship Id="rId13" Type="http://schemas.openxmlformats.org/officeDocument/2006/relationships/image" Target="../media/image-4-5.png"/><Relationship Id="rId14" Type="http://schemas.openxmlformats.org/officeDocument/2006/relationships/image" Target="../media/image-4-6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5.png"/><Relationship Id="rId6" Type="http://schemas.openxmlformats.org/officeDocument/2006/relationships/image" Target="../media/image-6-5.png"/><Relationship Id="rId7" Type="http://schemas.openxmlformats.org/officeDocument/2006/relationships/image" Target="../media/image-6-5.png"/><Relationship Id="rId8" Type="http://schemas.openxmlformats.org/officeDocument/2006/relationships/image" Target="../media/image-6-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920240" y="173736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108960" y="82296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754880" y="45720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73152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778240" y="14630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0" y="457200"/>
            <a:ext cx="25603" cy="25603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0" y="109728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539496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560320" y="6217920"/>
            <a:ext cx="23774" cy="23774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480560" y="576072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863840" y="6309360"/>
            <a:ext cx="21946" cy="21946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509760" y="566928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247120" y="612648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852160" y="118872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881360" y="310896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291840"/>
            <a:ext cx="20117" cy="20117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04320" y="46634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955280" y="-2377440"/>
            <a:ext cx="8595360" cy="8595360"/>
          </a:xfrm>
          <a:prstGeom prst="ellipse">
            <a:avLst/>
          </a:prstGeom>
          <a:ln w="19050">
            <a:solidFill>
              <a:srgbClr val="1B2B5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-1280160"/>
            <a:ext cx="6400800" cy="6400800"/>
          </a:xfrm>
          <a:prstGeom prst="ellipse">
            <a:avLst/>
          </a:prstGeom>
          <a:ln w="19050">
            <a:solidFill>
              <a:srgbClr val="2436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-182880"/>
            <a:ext cx="4206240" cy="4206240"/>
          </a:xfrm>
          <a:prstGeom prst="ellipse">
            <a:avLst/>
          </a:prstGeom>
          <a:ln w="19050">
            <a:solidFill>
              <a:srgbClr val="2D42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49640" y="4434840"/>
            <a:ext cx="777240" cy="77724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24" name="Image 0" descr="icons/satellit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1722" y="4636922"/>
            <a:ext cx="373075" cy="373075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10607040" y="5212080"/>
            <a:ext cx="658368" cy="658368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26" name="Image 1" descr="icons/dish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8216" y="5383256"/>
            <a:ext cx="316017" cy="316017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685800" y="640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 — INTERNAL ROUND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640080" y="1234440"/>
            <a:ext cx="8686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SatQuery AI</a:t>
            </a:r>
            <a:endParaRPr lang="en-US" sz="6600" dirty="0"/>
          </a:p>
        </p:txBody>
      </p:sp>
      <p:sp>
        <p:nvSpPr>
          <p:cNvPr id="29" name="Text 25"/>
          <p:cNvSpPr txBox="1"/>
          <p:nvPr/>
        </p:nvSpPr>
        <p:spPr>
          <a:xfrm>
            <a:off x="685800" y="25146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C7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Vision-Language Assistant for Multimodal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C7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Sensing Image Analysis through Text Queries</a:t>
            </a:r>
            <a:endParaRPr lang="en-US" sz="1900" dirty="0"/>
          </a:p>
        </p:txBody>
      </p:sp>
      <p:sp>
        <p:nvSpPr>
          <p:cNvPr id="30" name="Text 26"/>
          <p:cNvSpPr txBox="1"/>
          <p:nvPr/>
        </p:nvSpPr>
        <p:spPr>
          <a:xfrm>
            <a:off x="685800" y="361188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satellites questions in plain language.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AI routes each query to fine-tuned remote-sensing specialist models across optical, SAR and multi-temporal imagery — and answers with visual evidence.</a:t>
            </a:r>
            <a:endParaRPr lang="en-US" sz="1500" dirty="0"/>
          </a:p>
        </p:txBody>
      </p:sp>
      <p:sp>
        <p:nvSpPr>
          <p:cNvPr id="31" name="Shape 27"/>
          <p:cNvSpPr/>
          <p:nvPr/>
        </p:nvSpPr>
        <p:spPr>
          <a:xfrm>
            <a:off x="685800" y="4983480"/>
            <a:ext cx="1810512" cy="749808"/>
          </a:xfrm>
          <a:prstGeom prst="roundRect">
            <a:avLst>
              <a:gd name="adj" fmla="val 10976"/>
            </a:avLst>
          </a:prstGeom>
          <a:solidFill>
            <a:srgbClr val="13203F"/>
          </a:solidFill>
          <a:ln w="12700">
            <a:solidFill>
              <a:srgbClr val="2D4270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832104" y="508406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ID</a:t>
            </a:r>
            <a:endParaRPr lang="en-US" sz="950" dirty="0"/>
          </a:p>
        </p:txBody>
      </p:sp>
      <p:sp>
        <p:nvSpPr>
          <p:cNvPr id="33" name="Text 29"/>
          <p:cNvSpPr txBox="1"/>
          <p:nvPr/>
        </p:nvSpPr>
        <p:spPr>
          <a:xfrm>
            <a:off x="832104" y="530352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26167</a:t>
            </a:r>
            <a:endParaRPr lang="en-US" sz="1350" dirty="0"/>
          </a:p>
        </p:txBody>
      </p:sp>
      <p:sp>
        <p:nvSpPr>
          <p:cNvPr id="34" name="Shape 30"/>
          <p:cNvSpPr/>
          <p:nvPr/>
        </p:nvSpPr>
        <p:spPr>
          <a:xfrm>
            <a:off x="2697480" y="4983480"/>
            <a:ext cx="1810512" cy="749808"/>
          </a:xfrm>
          <a:prstGeom prst="roundRect">
            <a:avLst>
              <a:gd name="adj" fmla="val 10976"/>
            </a:avLst>
          </a:prstGeom>
          <a:solidFill>
            <a:srgbClr val="13203F"/>
          </a:solidFill>
          <a:ln w="12700">
            <a:solidFill>
              <a:srgbClr val="2D4270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2843784" y="508406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950" dirty="0"/>
          </a:p>
        </p:txBody>
      </p:sp>
      <p:sp>
        <p:nvSpPr>
          <p:cNvPr id="36" name="Text 32"/>
          <p:cNvSpPr txBox="1"/>
          <p:nvPr/>
        </p:nvSpPr>
        <p:spPr>
          <a:xfrm>
            <a:off x="2843784" y="530352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ISRO / SAC</a:t>
            </a:r>
            <a:endParaRPr lang="en-US" sz="1350" dirty="0"/>
          </a:p>
        </p:txBody>
      </p:sp>
      <p:sp>
        <p:nvSpPr>
          <p:cNvPr id="37" name="Shape 33"/>
          <p:cNvSpPr/>
          <p:nvPr/>
        </p:nvSpPr>
        <p:spPr>
          <a:xfrm>
            <a:off x="4709160" y="4983480"/>
            <a:ext cx="1810512" cy="749808"/>
          </a:xfrm>
          <a:prstGeom prst="roundRect">
            <a:avLst>
              <a:gd name="adj" fmla="val 10976"/>
            </a:avLst>
          </a:prstGeom>
          <a:solidFill>
            <a:srgbClr val="13203F"/>
          </a:solidFill>
          <a:ln w="12700">
            <a:solidFill>
              <a:srgbClr val="2D4270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4855464" y="508406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950" dirty="0"/>
          </a:p>
        </p:txBody>
      </p:sp>
      <p:sp>
        <p:nvSpPr>
          <p:cNvPr id="39" name="Text 35"/>
          <p:cNvSpPr txBox="1"/>
          <p:nvPr/>
        </p:nvSpPr>
        <p:spPr>
          <a:xfrm>
            <a:off x="4855464" y="530352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Technology</a:t>
            </a:r>
            <a:endParaRPr lang="en-US" sz="1350" dirty="0"/>
          </a:p>
        </p:txBody>
      </p:sp>
      <p:sp>
        <p:nvSpPr>
          <p:cNvPr id="40" name="Shape 36"/>
          <p:cNvSpPr/>
          <p:nvPr/>
        </p:nvSpPr>
        <p:spPr>
          <a:xfrm>
            <a:off x="6720840" y="4983480"/>
            <a:ext cx="1810512" cy="749808"/>
          </a:xfrm>
          <a:prstGeom prst="roundRect">
            <a:avLst>
              <a:gd name="adj" fmla="val 10976"/>
            </a:avLst>
          </a:prstGeom>
          <a:solidFill>
            <a:srgbClr val="13203F"/>
          </a:solidFill>
          <a:ln w="12700">
            <a:solidFill>
              <a:srgbClr val="2D4270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6867144" y="508406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50" dirty="0"/>
          </a:p>
        </p:txBody>
      </p:sp>
      <p:sp>
        <p:nvSpPr>
          <p:cNvPr id="42" name="Text 38"/>
          <p:cNvSpPr txBox="1"/>
          <p:nvPr/>
        </p:nvSpPr>
        <p:spPr>
          <a:xfrm>
            <a:off x="6867144" y="530352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350" dirty="0"/>
          </a:p>
        </p:txBody>
      </p:sp>
      <p:sp>
        <p:nvSpPr>
          <p:cNvPr id="43" name="Text 39"/>
          <p:cNvSpPr txBox="1"/>
          <p:nvPr/>
        </p:nvSpPr>
        <p:spPr>
          <a:xfrm>
            <a:off x="685800" y="5989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pPr indent="0" marL="0">
              <a:buNone/>
            </a:pPr>
            <a:r>
              <a:rPr lang="en-US" sz="13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&lt;Team Name&gt;   ·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Lead: </a:t>
            </a:r>
            <a:pPr indent="0" marL="0">
              <a:buNone/>
            </a:pPr>
            <a:r>
              <a:rPr lang="en-US" sz="13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&lt;Name&gt;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assistant, every satellite question — no GIS expertise required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074920" cy="1883664"/>
          </a:xfrm>
          <a:prstGeom prst="roundRect">
            <a:avLst>
              <a:gd name="adj" fmla="val 4854"/>
            </a:avLst>
          </a:prstGeom>
          <a:solidFill>
            <a:srgbClr val="0A11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166420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SOLVE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1956816"/>
            <a:ext cx="456285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Remote-sensing AI today is fragmented into single-task tools that demand expertise in sensors, GIS workflows and model selection. Real questions often need multiple images — optical + SAR, or two dates — which generic VLMs cannot reason over reliably.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5074920" cy="2615184"/>
          </a:xfrm>
          <a:prstGeom prst="roundRect">
            <a:avLst>
              <a:gd name="adj" fmla="val 3497"/>
            </a:avLst>
          </a:prstGeom>
          <a:solidFill>
            <a:srgbClr val="F1F5F9"/>
          </a:solidFill>
          <a:ln w="12700">
            <a:solidFill>
              <a:srgbClr val="DBE4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374904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IDEA</a:t>
            </a:r>
            <a:endParaRPr lang="en-US" sz="1100" dirty="0"/>
          </a:p>
        </p:txBody>
      </p:sp>
      <p:pic>
        <p:nvPicPr>
          <p:cNvPr id="9" name="Image 0" descr="icons/chat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4087368"/>
            <a:ext cx="237744" cy="2377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70432" y="4059936"/>
            <a:ext cx="4178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front end — upload GeoTIFF/TIFF imagery, ask a question, get an evidence-grounded answer.</a:t>
            </a:r>
            <a:endParaRPr lang="en-US" sz="1150" dirty="0"/>
          </a:p>
        </p:txBody>
      </p:sp>
      <p:pic>
        <p:nvPicPr>
          <p:cNvPr id="11" name="Image 1" descr="icons/brain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460857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70432" y="4581144"/>
            <a:ext cx="4178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controller interprets the query, validates inputs and routes to the right specialist model automatically.</a:t>
            </a:r>
            <a:endParaRPr lang="en-US" sz="1150" dirty="0"/>
          </a:p>
        </p:txBody>
      </p:sp>
      <p:pic>
        <p:nvPicPr>
          <p:cNvPr id="13" name="Image 2" descr="icons/layers_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5129784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70432" y="5102352"/>
            <a:ext cx="4178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all three prescribed scopes: single image, co-registered optical–SAR pair, bi-temporal pair.</a:t>
            </a:r>
            <a:endParaRPr lang="en-US" sz="1150" dirty="0"/>
          </a:p>
        </p:txBody>
      </p:sp>
      <p:pic>
        <p:nvPicPr>
          <p:cNvPr id="15" name="Image 3" descr="icons/eye_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5650992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70432" y="5623560"/>
            <a:ext cx="4178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ships with visual evidence, confidence and an auditable execution trace.</a:t>
            </a:r>
            <a:endParaRPr lang="en-US" sz="1150" dirty="0"/>
          </a:p>
        </p:txBody>
      </p:sp>
      <p:sp>
        <p:nvSpPr>
          <p:cNvPr id="17" name="Text 11"/>
          <p:cNvSpPr txBox="1"/>
          <p:nvPr/>
        </p:nvSpPr>
        <p:spPr>
          <a:xfrm>
            <a:off x="5897880" y="1463040"/>
            <a:ext cx="5742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UNIQUENESS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5897880" y="1828800"/>
            <a:ext cx="2779776" cy="2157984"/>
          </a:xfrm>
          <a:prstGeom prst="roundRect">
            <a:avLst>
              <a:gd name="adj" fmla="val 4237"/>
            </a:avLst>
          </a:prstGeom>
          <a:solidFill>
            <a:srgbClr val="F1F5F9"/>
          </a:solidFill>
          <a:ln w="12700">
            <a:solidFill>
              <a:srgbClr val="DBE4EF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099048" y="2011680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20" name="Image 4" descr="icons/brain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2130552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099048" y="257860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Agentic, not generic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6099048" y="2871216"/>
            <a:ext cx="2377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controller selects, sequences and executes fine-tuned RS specialist models per query — instead of one generic VLM guessing at everything.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8860536" y="1828800"/>
            <a:ext cx="2779776" cy="2157984"/>
          </a:xfrm>
          <a:prstGeom prst="roundRect">
            <a:avLst>
              <a:gd name="adj" fmla="val 4237"/>
            </a:avLst>
          </a:prstGeom>
          <a:solidFill>
            <a:srgbClr val="F1F5F9"/>
          </a:solidFill>
          <a:ln w="12700">
            <a:solidFill>
              <a:srgbClr val="DBE4EF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9061704" y="201168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25" name="Image 5" descr="icons/satellite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0576" y="2130552"/>
            <a:ext cx="219456" cy="21945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9061704" y="257860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RS adaptation</a:t>
            </a:r>
            <a:endParaRPr lang="en-US" sz="1350" dirty="0"/>
          </a:p>
        </p:txBody>
      </p:sp>
      <p:sp>
        <p:nvSpPr>
          <p:cNvPr id="27" name="Text 19"/>
          <p:cNvSpPr txBox="1"/>
          <p:nvPr/>
        </p:nvSpPr>
        <p:spPr>
          <a:xfrm>
            <a:off x="9061704" y="2871216"/>
            <a:ext cx="2377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Vision-language backbone fine-tuned (LoRA) on BigEarthNet's co-registered Sentinel-1 SAR + Sentinel-2 multispectral imagery.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5897880" y="4169664"/>
            <a:ext cx="2779776" cy="2157984"/>
          </a:xfrm>
          <a:prstGeom prst="roundRect">
            <a:avLst>
              <a:gd name="adj" fmla="val 4237"/>
            </a:avLst>
          </a:prstGeom>
          <a:solidFill>
            <a:srgbClr val="F1F5F9"/>
          </a:solidFill>
          <a:ln w="12700">
            <a:solidFill>
              <a:srgbClr val="DBE4EF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6099048" y="4352544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30" name="Image 6" descr="icons/clock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0" y="4471416"/>
            <a:ext cx="219456" cy="219456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099048" y="4919472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Multi-image reasoning</a:t>
            </a:r>
            <a:endParaRPr lang="en-US" sz="1350" dirty="0"/>
          </a:p>
        </p:txBody>
      </p:sp>
      <p:sp>
        <p:nvSpPr>
          <p:cNvPr id="32" name="Text 23"/>
          <p:cNvSpPr txBox="1"/>
          <p:nvPr/>
        </p:nvSpPr>
        <p:spPr>
          <a:xfrm>
            <a:off x="6099048" y="5212080"/>
            <a:ext cx="2377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description &amp; change-VQA over bi-temporal pairs, plus optical–SAR fusion that extracts complementary information.</a:t>
            </a:r>
            <a:endParaRPr lang="en-US" sz="1050" dirty="0"/>
          </a:p>
        </p:txBody>
      </p:sp>
      <p:sp>
        <p:nvSpPr>
          <p:cNvPr id="33" name="Shape 24"/>
          <p:cNvSpPr/>
          <p:nvPr/>
        </p:nvSpPr>
        <p:spPr>
          <a:xfrm>
            <a:off x="8860536" y="4169664"/>
            <a:ext cx="2779776" cy="2157984"/>
          </a:xfrm>
          <a:prstGeom prst="roundRect">
            <a:avLst>
              <a:gd name="adj" fmla="val 4237"/>
            </a:avLst>
          </a:prstGeom>
          <a:solidFill>
            <a:srgbClr val="F1F5F9"/>
          </a:solidFill>
          <a:ln w="12700">
            <a:solidFill>
              <a:srgbClr val="DBE4EF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9061704" y="4352544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35" name="Image 7" descr="icons/shield_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0576" y="4471416"/>
            <a:ext cx="219456" cy="219456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9061704" y="4919472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Trustworthy by design</a:t>
            </a:r>
            <a:endParaRPr lang="en-US" sz="1350" dirty="0"/>
          </a:p>
        </p:txBody>
      </p:sp>
      <p:sp>
        <p:nvSpPr>
          <p:cNvPr id="37" name="Text 27"/>
          <p:cNvSpPr txBox="1"/>
          <p:nvPr/>
        </p:nvSpPr>
        <p:spPr>
          <a:xfrm>
            <a:off x="9061704" y="5212080"/>
            <a:ext cx="2377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masks/boxes as proof, confidence estimates, and an auditable trace of task, models and parameters — as the PS demands.</a:t>
            </a:r>
            <a:endParaRPr lang="en-US" sz="1050" dirty="0"/>
          </a:p>
        </p:txBody>
      </p:sp>
      <p:sp>
        <p:nvSpPr>
          <p:cNvPr id="38" name="Text 2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SatQuery AI  ·  PS 26167  ·  Smart India Hackathon — Internal Round</a:t>
            </a:r>
            <a:endParaRPr lang="en-US" sz="900" dirty="0"/>
          </a:p>
        </p:txBody>
      </p:sp>
      <p:sp>
        <p:nvSpPr>
          <p:cNvPr id="39" name="Text 29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in — evidence-grounded answer out, through an agentic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2606040" cy="1078992"/>
          </a:xfrm>
          <a:prstGeom prst="roundRect">
            <a:avLst>
              <a:gd name="adj" fmla="val 6780"/>
            </a:avLst>
          </a:prstGeom>
          <a:solidFill>
            <a:srgbClr val="0A1128"/>
          </a:solidFill>
          <a:ln/>
        </p:spPr>
      </p:sp>
      <p:sp>
        <p:nvSpPr>
          <p:cNvPr id="5" name="Shape 3"/>
          <p:cNvSpPr/>
          <p:nvPr/>
        </p:nvSpPr>
        <p:spPr>
          <a:xfrm>
            <a:off x="676656" y="1426464"/>
            <a:ext cx="347472" cy="347472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6" name="Image 0" descr="icons/cha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999" y="1516807"/>
            <a:ext cx="166787" cy="16678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" y="1417320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Query + Imagery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94944" y="1828800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2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question with GeoTIFF/TIFF — optical/MS, SAR, or image pairs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182112" y="1719072"/>
            <a:ext cx="219456" cy="237744"/>
          </a:xfrm>
          <a:prstGeom prst="rightArrow">
            <a:avLst/>
          </a:prstGeom>
          <a:solidFill>
            <a:srgbClr val="B6C4D9"/>
          </a:solidFill>
          <a:ln/>
        </p:spPr>
      </p:sp>
      <p:sp>
        <p:nvSpPr>
          <p:cNvPr id="10" name="Shape 7"/>
          <p:cNvSpPr/>
          <p:nvPr/>
        </p:nvSpPr>
        <p:spPr>
          <a:xfrm>
            <a:off x="3429000" y="1298448"/>
            <a:ext cx="2606040" cy="1078992"/>
          </a:xfrm>
          <a:prstGeom prst="roundRect">
            <a:avLst>
              <a:gd name="adj" fmla="val 6780"/>
            </a:avLst>
          </a:prstGeom>
          <a:solidFill>
            <a:srgbClr val="0A1128"/>
          </a:solidFill>
          <a:ln/>
        </p:spPr>
      </p:sp>
      <p:sp>
        <p:nvSpPr>
          <p:cNvPr id="11" name="Shape 8"/>
          <p:cNvSpPr/>
          <p:nvPr/>
        </p:nvSpPr>
        <p:spPr>
          <a:xfrm>
            <a:off x="3557016" y="1426464"/>
            <a:ext cx="347472" cy="347472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2" name="Image 1" descr="icons/shield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359" y="1516807"/>
            <a:ext cx="166787" cy="16678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995928" y="1417320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Input Validator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3575304" y="1828800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2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count, modality, format, metadata &amp; co-registration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062472" y="1719072"/>
            <a:ext cx="219456" cy="237744"/>
          </a:xfrm>
          <a:prstGeom prst="rightArrow">
            <a:avLst/>
          </a:prstGeom>
          <a:solidFill>
            <a:srgbClr val="B6C4D9"/>
          </a:solidFill>
          <a:ln/>
        </p:spPr>
      </p:sp>
      <p:sp>
        <p:nvSpPr>
          <p:cNvPr id="16" name="Shape 12"/>
          <p:cNvSpPr/>
          <p:nvPr/>
        </p:nvSpPr>
        <p:spPr>
          <a:xfrm>
            <a:off x="6309360" y="1298448"/>
            <a:ext cx="2606040" cy="1078992"/>
          </a:xfrm>
          <a:prstGeom prst="roundRect">
            <a:avLst>
              <a:gd name="adj" fmla="val 6780"/>
            </a:avLst>
          </a:prstGeom>
          <a:solidFill>
            <a:srgbClr val="0A1128"/>
          </a:solidFill>
          <a:ln/>
        </p:spPr>
      </p:sp>
      <p:sp>
        <p:nvSpPr>
          <p:cNvPr id="17" name="Shape 13"/>
          <p:cNvSpPr/>
          <p:nvPr/>
        </p:nvSpPr>
        <p:spPr>
          <a:xfrm>
            <a:off x="6437376" y="1426464"/>
            <a:ext cx="347472" cy="347472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18" name="Image 2" descr="icons/brain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719" y="1516807"/>
            <a:ext cx="166787" cy="16678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876288" y="1417320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Agentic Controller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6455664" y="1828800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2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the task and plans the tool workflow (LangGraph)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8942832" y="1719072"/>
            <a:ext cx="219456" cy="237744"/>
          </a:xfrm>
          <a:prstGeom prst="rightArrow">
            <a:avLst/>
          </a:prstGeom>
          <a:solidFill>
            <a:srgbClr val="B6C4D9"/>
          </a:solidFill>
          <a:ln/>
        </p:spPr>
      </p:sp>
      <p:sp>
        <p:nvSpPr>
          <p:cNvPr id="22" name="Shape 17"/>
          <p:cNvSpPr/>
          <p:nvPr/>
        </p:nvSpPr>
        <p:spPr>
          <a:xfrm>
            <a:off x="9189720" y="1298448"/>
            <a:ext cx="2606040" cy="1078992"/>
          </a:xfrm>
          <a:prstGeom prst="roundRect">
            <a:avLst>
              <a:gd name="adj" fmla="val 6780"/>
            </a:avLst>
          </a:prstGeom>
          <a:solidFill>
            <a:srgbClr val="0A1128"/>
          </a:solidFill>
          <a:ln/>
        </p:spPr>
      </p:sp>
      <p:sp>
        <p:nvSpPr>
          <p:cNvPr id="23" name="Shape 18"/>
          <p:cNvSpPr/>
          <p:nvPr/>
        </p:nvSpPr>
        <p:spPr>
          <a:xfrm>
            <a:off x="9317736" y="1426464"/>
            <a:ext cx="347472" cy="347472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24" name="Image 3" descr="icons/rout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8079" y="1516807"/>
            <a:ext cx="166787" cy="16678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756648" y="1417320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Task Router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9336024" y="1828800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2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models from registry; sets only permitted parameters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5971032" y="2450592"/>
            <a:ext cx="237744" cy="274320"/>
          </a:xfrm>
          <a:prstGeom prst="downArrow">
            <a:avLst/>
          </a:prstGeom>
          <a:solidFill>
            <a:srgbClr val="B6C4D9"/>
          </a:solidFill>
          <a:ln/>
        </p:spPr>
      </p:sp>
      <p:sp>
        <p:nvSpPr>
          <p:cNvPr id="28" name="Shape 22"/>
          <p:cNvSpPr/>
          <p:nvPr/>
        </p:nvSpPr>
        <p:spPr>
          <a:xfrm>
            <a:off x="548640" y="2798064"/>
            <a:ext cx="11091672" cy="1481328"/>
          </a:xfrm>
          <a:prstGeom prst="roundRect">
            <a:avLst>
              <a:gd name="adj" fmla="val 6173"/>
            </a:avLst>
          </a:prstGeom>
          <a:solidFill>
            <a:srgbClr val="F1F5F9"/>
          </a:solidFill>
          <a:ln w="12700">
            <a:solidFill>
              <a:srgbClr val="DBE4EF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804672" y="2907792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MODEL REGISTRY — remote-sensing fine-tuned (BigEarthNet · LoRA/PEFT)</a:t>
            </a:r>
            <a:endParaRPr lang="en-US" sz="1050" dirty="0"/>
          </a:p>
        </p:txBody>
      </p:sp>
      <p:pic>
        <p:nvPicPr>
          <p:cNvPr id="30" name="Image 4" descr="icons/chat_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3255264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188720" y="3264408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RS-VQA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804672" y="3602736"/>
            <a:ext cx="2459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Single-image visual question answering (mandatory baseline)</a:t>
            </a:r>
            <a:endParaRPr lang="en-US" sz="950" dirty="0"/>
          </a:p>
        </p:txBody>
      </p:sp>
      <p:pic>
        <p:nvPicPr>
          <p:cNvPr id="33" name="Image 5" descr="icons/map_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2152" y="3255264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3886200" y="3264408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+ Grounding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3502152" y="3602736"/>
            <a:ext cx="2459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description &amp; text-guided region localisation</a:t>
            </a:r>
            <a:endParaRPr lang="en-US" sz="950" dirty="0"/>
          </a:p>
        </p:txBody>
      </p:sp>
      <p:pic>
        <p:nvPicPr>
          <p:cNvPr id="36" name="Image 6" descr="icons/clock_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9632" y="3255264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583680" y="3264408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Change-VQA</a:t>
            </a:r>
            <a:endParaRPr lang="en-US" sz="1200" dirty="0"/>
          </a:p>
        </p:txBody>
      </p:sp>
      <p:sp>
        <p:nvSpPr>
          <p:cNvPr id="38" name="Text 29"/>
          <p:cNvSpPr txBox="1"/>
          <p:nvPr/>
        </p:nvSpPr>
        <p:spPr>
          <a:xfrm>
            <a:off x="6199632" y="3602736"/>
            <a:ext cx="2459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Bi-temporal change description, change QA &amp; change maps</a:t>
            </a:r>
            <a:endParaRPr lang="en-US" sz="950" dirty="0"/>
          </a:p>
        </p:txBody>
      </p:sp>
      <p:pic>
        <p:nvPicPr>
          <p:cNvPr id="39" name="Image 7" descr="icons/layers_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97112" y="3255264"/>
            <a:ext cx="274320" cy="274320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9281160" y="3264408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Optical–SAR Fusion</a:t>
            </a:r>
            <a:endParaRPr lang="en-US" sz="1200" dirty="0"/>
          </a:p>
        </p:txBody>
      </p:sp>
      <p:sp>
        <p:nvSpPr>
          <p:cNvPr id="41" name="Text 31"/>
          <p:cNvSpPr txBox="1"/>
          <p:nvPr/>
        </p:nvSpPr>
        <p:spPr>
          <a:xfrm>
            <a:off x="8897112" y="3602736"/>
            <a:ext cx="2459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extraction: built-up, water &amp; structure from both sensors</a:t>
            </a:r>
            <a:endParaRPr lang="en-US" sz="950" dirty="0"/>
          </a:p>
        </p:txBody>
      </p:sp>
      <p:sp>
        <p:nvSpPr>
          <p:cNvPr id="42" name="Shape 32"/>
          <p:cNvSpPr/>
          <p:nvPr/>
        </p:nvSpPr>
        <p:spPr>
          <a:xfrm>
            <a:off x="5971032" y="4334256"/>
            <a:ext cx="237744" cy="274320"/>
          </a:xfrm>
          <a:prstGeom prst="downArrow">
            <a:avLst/>
          </a:prstGeom>
          <a:solidFill>
            <a:srgbClr val="B6C4D9"/>
          </a:solidFill>
          <a:ln/>
        </p:spPr>
      </p:sp>
      <p:sp>
        <p:nvSpPr>
          <p:cNvPr id="43" name="Shape 33"/>
          <p:cNvSpPr/>
          <p:nvPr/>
        </p:nvSpPr>
        <p:spPr>
          <a:xfrm>
            <a:off x="548640" y="4663440"/>
            <a:ext cx="5394960" cy="969264"/>
          </a:xfrm>
          <a:prstGeom prst="roundRect">
            <a:avLst>
              <a:gd name="adj" fmla="val 7547"/>
            </a:avLst>
          </a:prstGeom>
          <a:solidFill>
            <a:srgbClr val="0A1128"/>
          </a:solidFill>
          <a:ln/>
        </p:spPr>
      </p:sp>
      <p:sp>
        <p:nvSpPr>
          <p:cNvPr id="44" name="Shape 34"/>
          <p:cNvSpPr/>
          <p:nvPr/>
        </p:nvSpPr>
        <p:spPr>
          <a:xfrm>
            <a:off x="694944" y="4809744"/>
            <a:ext cx="347472" cy="347472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45" name="Image 8" descr="icons/gears_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5287" y="4900087"/>
            <a:ext cx="166787" cy="166787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1152144" y="479145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Output Integrator</a:t>
            </a:r>
            <a:endParaRPr lang="en-US" sz="1150" dirty="0"/>
          </a:p>
        </p:txBody>
      </p:sp>
      <p:sp>
        <p:nvSpPr>
          <p:cNvPr id="47" name="Text 36"/>
          <p:cNvSpPr txBox="1"/>
          <p:nvPr/>
        </p:nvSpPr>
        <p:spPr>
          <a:xfrm>
            <a:off x="713232" y="517550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2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textual + spatial outputs, estimates confidence, attaches evidence</a:t>
            </a:r>
            <a:endParaRPr lang="en-US" sz="950" dirty="0"/>
          </a:p>
        </p:txBody>
      </p:sp>
      <p:sp>
        <p:nvSpPr>
          <p:cNvPr id="48" name="Shape 37"/>
          <p:cNvSpPr/>
          <p:nvPr/>
        </p:nvSpPr>
        <p:spPr>
          <a:xfrm>
            <a:off x="6016752" y="5029200"/>
            <a:ext cx="256032" cy="237744"/>
          </a:xfrm>
          <a:prstGeom prst="rightArrow">
            <a:avLst/>
          </a:prstGeom>
          <a:solidFill>
            <a:srgbClr val="B6C4D9"/>
          </a:solidFill>
          <a:ln/>
        </p:spPr>
      </p:sp>
      <p:sp>
        <p:nvSpPr>
          <p:cNvPr id="49" name="Shape 38"/>
          <p:cNvSpPr/>
          <p:nvPr/>
        </p:nvSpPr>
        <p:spPr>
          <a:xfrm>
            <a:off x="6355080" y="4663440"/>
            <a:ext cx="5285232" cy="969264"/>
          </a:xfrm>
          <a:prstGeom prst="roundRect">
            <a:avLst>
              <a:gd name="adj" fmla="val 7547"/>
            </a:avLst>
          </a:prstGeom>
          <a:solidFill>
            <a:srgbClr val="063B57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50" name="Shape 39"/>
          <p:cNvSpPr/>
          <p:nvPr/>
        </p:nvSpPr>
        <p:spPr>
          <a:xfrm>
            <a:off x="6501384" y="4809744"/>
            <a:ext cx="347472" cy="347472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51" name="Image 9" descr="icons/file_w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91727" y="4900087"/>
            <a:ext cx="166787" cy="166787"/>
          </a:xfrm>
          <a:prstGeom prst="rect">
            <a:avLst/>
          </a:prstGeom>
        </p:spPr>
      </p:pic>
      <p:sp>
        <p:nvSpPr>
          <p:cNvPr id="52" name="Text 40"/>
          <p:cNvSpPr txBox="1"/>
          <p:nvPr/>
        </p:nvSpPr>
        <p:spPr>
          <a:xfrm>
            <a:off x="6958584" y="479145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Evidence-Grounded Response</a:t>
            </a:r>
            <a:endParaRPr lang="en-US" sz="1150" dirty="0"/>
          </a:p>
        </p:txBody>
      </p:sp>
      <p:sp>
        <p:nvSpPr>
          <p:cNvPr id="53" name="Text 41"/>
          <p:cNvSpPr txBox="1"/>
          <p:nvPr/>
        </p:nvSpPr>
        <p:spPr>
          <a:xfrm>
            <a:off x="6519672" y="517550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2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overlays/boxes + confidence + auditable execution summary + downloadable report</a:t>
            </a:r>
            <a:endParaRPr lang="en-US" sz="950" dirty="0"/>
          </a:p>
        </p:txBody>
      </p:sp>
      <p:sp>
        <p:nvSpPr>
          <p:cNvPr id="54" name="Text 42"/>
          <p:cNvSpPr txBox="1"/>
          <p:nvPr/>
        </p:nvSpPr>
        <p:spPr>
          <a:xfrm>
            <a:off x="548640" y="58704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000" dirty="0"/>
          </a:p>
        </p:txBody>
      </p:sp>
      <p:sp>
        <p:nvSpPr>
          <p:cNvPr id="55" name="Shape 43"/>
          <p:cNvSpPr/>
          <p:nvPr/>
        </p:nvSpPr>
        <p:spPr>
          <a:xfrm>
            <a:off x="1234440" y="5833872"/>
            <a:ext cx="760781" cy="329184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 w="9525">
            <a:solidFill>
              <a:srgbClr val="C5D6EA"/>
            </a:solidFill>
            <a:prstDash val="solid"/>
          </a:ln>
        </p:spPr>
      </p:sp>
      <p:sp>
        <p:nvSpPr>
          <p:cNvPr id="56" name="Text 44"/>
          <p:cNvSpPr txBox="1"/>
          <p:nvPr/>
        </p:nvSpPr>
        <p:spPr>
          <a:xfrm>
            <a:off x="1234440" y="5833872"/>
            <a:ext cx="76078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950" dirty="0"/>
          </a:p>
        </p:txBody>
      </p:sp>
      <p:sp>
        <p:nvSpPr>
          <p:cNvPr id="57" name="Shape 45"/>
          <p:cNvSpPr/>
          <p:nvPr/>
        </p:nvSpPr>
        <p:spPr>
          <a:xfrm>
            <a:off x="2104949" y="5833872"/>
            <a:ext cx="1316736" cy="329184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 w="9525">
            <a:solidFill>
              <a:srgbClr val="C5D6EA"/>
            </a:solidFill>
            <a:prstDash val="solid"/>
          </a:ln>
        </p:spPr>
      </p:sp>
      <p:sp>
        <p:nvSpPr>
          <p:cNvPr id="58" name="Text 46"/>
          <p:cNvSpPr txBox="1"/>
          <p:nvPr/>
        </p:nvSpPr>
        <p:spPr>
          <a:xfrm>
            <a:off x="2104949" y="5833872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Transformers</a:t>
            </a:r>
            <a:endParaRPr lang="en-US" sz="950" dirty="0"/>
          </a:p>
        </p:txBody>
      </p:sp>
      <p:sp>
        <p:nvSpPr>
          <p:cNvPr id="59" name="Shape 47"/>
          <p:cNvSpPr/>
          <p:nvPr/>
        </p:nvSpPr>
        <p:spPr>
          <a:xfrm>
            <a:off x="3531413" y="5833872"/>
            <a:ext cx="1664208" cy="329184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 w="9525">
            <a:solidFill>
              <a:srgbClr val="C5D6EA"/>
            </a:solidFill>
            <a:prstDash val="solid"/>
          </a:ln>
        </p:spPr>
      </p:sp>
      <p:sp>
        <p:nvSpPr>
          <p:cNvPr id="60" name="Text 48"/>
          <p:cNvSpPr txBox="1"/>
          <p:nvPr/>
        </p:nvSpPr>
        <p:spPr>
          <a:xfrm>
            <a:off x="3531413" y="5833872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Qwen2.5-VL / GeoChat</a:t>
            </a:r>
            <a:endParaRPr lang="en-US" sz="950" dirty="0"/>
          </a:p>
        </p:txBody>
      </p:sp>
      <p:sp>
        <p:nvSpPr>
          <p:cNvPr id="61" name="Shape 49"/>
          <p:cNvSpPr/>
          <p:nvPr/>
        </p:nvSpPr>
        <p:spPr>
          <a:xfrm>
            <a:off x="5305349" y="5833872"/>
            <a:ext cx="1038758" cy="329184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 w="9525">
            <a:solidFill>
              <a:srgbClr val="C5D6EA"/>
            </a:solidFill>
            <a:prstDash val="solid"/>
          </a:ln>
        </p:spPr>
      </p:sp>
      <p:sp>
        <p:nvSpPr>
          <p:cNvPr id="62" name="Text 50"/>
          <p:cNvSpPr txBox="1"/>
          <p:nvPr/>
        </p:nvSpPr>
        <p:spPr>
          <a:xfrm>
            <a:off x="5305349" y="5833872"/>
            <a:ext cx="10387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/ PEFT</a:t>
            </a:r>
            <a:endParaRPr lang="en-US" sz="950" dirty="0"/>
          </a:p>
        </p:txBody>
      </p:sp>
      <p:sp>
        <p:nvSpPr>
          <p:cNvPr id="63" name="Shape 51"/>
          <p:cNvSpPr/>
          <p:nvPr/>
        </p:nvSpPr>
        <p:spPr>
          <a:xfrm>
            <a:off x="6453835" y="5833872"/>
            <a:ext cx="899770" cy="329184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 w="9525">
            <a:solidFill>
              <a:srgbClr val="C5D6EA"/>
            </a:solidFill>
            <a:prstDash val="solid"/>
          </a:ln>
        </p:spPr>
      </p:sp>
      <p:sp>
        <p:nvSpPr>
          <p:cNvPr id="64" name="Text 52"/>
          <p:cNvSpPr txBox="1"/>
          <p:nvPr/>
        </p:nvSpPr>
        <p:spPr>
          <a:xfrm>
            <a:off x="6453835" y="5833872"/>
            <a:ext cx="8997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950" dirty="0"/>
          </a:p>
        </p:txBody>
      </p:sp>
      <p:sp>
        <p:nvSpPr>
          <p:cNvPr id="65" name="Shape 53"/>
          <p:cNvSpPr/>
          <p:nvPr/>
        </p:nvSpPr>
        <p:spPr>
          <a:xfrm>
            <a:off x="7463333" y="5833872"/>
            <a:ext cx="1316736" cy="329184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 w="9525">
            <a:solidFill>
              <a:srgbClr val="C5D6EA"/>
            </a:solidFill>
            <a:prstDash val="solid"/>
          </a:ln>
        </p:spPr>
      </p:sp>
      <p:sp>
        <p:nvSpPr>
          <p:cNvPr id="66" name="Text 54"/>
          <p:cNvSpPr txBox="1"/>
          <p:nvPr/>
        </p:nvSpPr>
        <p:spPr>
          <a:xfrm>
            <a:off x="7463333" y="5833872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GDAL · rasterio</a:t>
            </a:r>
            <a:endParaRPr lang="en-US" sz="950" dirty="0"/>
          </a:p>
        </p:txBody>
      </p:sp>
      <p:sp>
        <p:nvSpPr>
          <p:cNvPr id="67" name="Shape 55"/>
          <p:cNvSpPr/>
          <p:nvPr/>
        </p:nvSpPr>
        <p:spPr>
          <a:xfrm>
            <a:off x="8889797" y="5833872"/>
            <a:ext cx="760781" cy="329184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 w="9525">
            <a:solidFill>
              <a:srgbClr val="C5D6EA"/>
            </a:solidFill>
            <a:prstDash val="solid"/>
          </a:ln>
        </p:spPr>
      </p:sp>
      <p:sp>
        <p:nvSpPr>
          <p:cNvPr id="68" name="Text 56"/>
          <p:cNvSpPr txBox="1"/>
          <p:nvPr/>
        </p:nvSpPr>
        <p:spPr>
          <a:xfrm>
            <a:off x="8889797" y="5833872"/>
            <a:ext cx="76078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50" dirty="0"/>
          </a:p>
        </p:txBody>
      </p:sp>
      <p:sp>
        <p:nvSpPr>
          <p:cNvPr id="69" name="Shape 57"/>
          <p:cNvSpPr/>
          <p:nvPr/>
        </p:nvSpPr>
        <p:spPr>
          <a:xfrm>
            <a:off x="9760306" y="5833872"/>
            <a:ext cx="621792" cy="329184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 w="9525">
            <a:solidFill>
              <a:srgbClr val="C5D6EA"/>
            </a:solidFill>
            <a:prstDash val="solid"/>
          </a:ln>
        </p:spPr>
      </p:sp>
      <p:sp>
        <p:nvSpPr>
          <p:cNvPr id="70" name="Text 58"/>
          <p:cNvSpPr txBox="1"/>
          <p:nvPr/>
        </p:nvSpPr>
        <p:spPr>
          <a:xfrm>
            <a:off x="9760306" y="5833872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950" dirty="0"/>
          </a:p>
        </p:txBody>
      </p:sp>
      <p:sp>
        <p:nvSpPr>
          <p:cNvPr id="71" name="Shape 59"/>
          <p:cNvSpPr/>
          <p:nvPr/>
        </p:nvSpPr>
        <p:spPr>
          <a:xfrm>
            <a:off x="10491826" y="5833872"/>
            <a:ext cx="691286" cy="329184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 w="9525">
            <a:solidFill>
              <a:srgbClr val="C5D6EA"/>
            </a:solidFill>
            <a:prstDash val="solid"/>
          </a:ln>
        </p:spPr>
      </p:sp>
      <p:sp>
        <p:nvSpPr>
          <p:cNvPr id="72" name="Text 60"/>
          <p:cNvSpPr txBox="1"/>
          <p:nvPr/>
        </p:nvSpPr>
        <p:spPr>
          <a:xfrm>
            <a:off x="10491826" y="5833872"/>
            <a:ext cx="6912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50" dirty="0"/>
          </a:p>
        </p:txBody>
      </p:sp>
      <p:sp>
        <p:nvSpPr>
          <p:cNvPr id="73" name="Text 6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SatQuery AI  ·  PS 26167  ·  Smart India Hackathon — Internal Round</a:t>
            </a:r>
            <a:endParaRPr lang="en-US" sz="900" dirty="0"/>
          </a:p>
        </p:txBody>
      </p:sp>
      <p:sp>
        <p:nvSpPr>
          <p:cNvPr id="74" name="Text 62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&amp; Viability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Buildable in hackathon time — every risk has a concrete mitigation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114800" cy="4718304"/>
          </a:xfrm>
          <a:prstGeom prst="roundRect">
            <a:avLst>
              <a:gd name="adj" fmla="val 2222"/>
            </a:avLst>
          </a:prstGeom>
          <a:solidFill>
            <a:srgbClr val="0A11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16642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FEASIBLE</a:t>
            </a:r>
            <a:endParaRPr lang="en-US" sz="1100" dirty="0"/>
          </a:p>
        </p:txBody>
      </p:sp>
      <p:pic>
        <p:nvPicPr>
          <p:cNvPr id="6" name="Image 0" descr="icons/check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048256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20299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open data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230428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2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BigEarthNet, VRSBench, RSVQA and CDVQA are all public — training and evaluation can start on day one.</a:t>
            </a:r>
            <a:endParaRPr lang="en-US" sz="1050" dirty="0"/>
          </a:p>
        </p:txBody>
      </p:sp>
      <p:pic>
        <p:nvPicPr>
          <p:cNvPr id="9" name="Image 1" descr="icons/check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08152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3063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open baselines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1188720" y="333756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2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RS-tuned VLMs (GeoChat, RemoteCLIP) and change models exist; we adapt, not reinvent.</a:t>
            </a:r>
            <a:endParaRPr lang="en-US" sz="1050" dirty="0"/>
          </a:p>
        </p:txBody>
      </p:sp>
      <p:pic>
        <p:nvPicPr>
          <p:cNvPr id="12" name="Image 2" descr="icons/check_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114800"/>
            <a:ext cx="256032" cy="25603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40965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Parameter-efficient tuning</a:t>
            </a:r>
            <a:endParaRPr lang="en-US" sz="1250" dirty="0"/>
          </a:p>
        </p:txBody>
      </p:sp>
      <p:sp>
        <p:nvSpPr>
          <p:cNvPr id="14" name="Text 9"/>
          <p:cNvSpPr txBox="1"/>
          <p:nvPr/>
        </p:nvSpPr>
        <p:spPr>
          <a:xfrm>
            <a:off x="1188720" y="437083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2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fine-tunes &lt;1% of weights — trains on a single free/college GPU (Colab/Kaggle T4).</a:t>
            </a:r>
            <a:endParaRPr lang="en-US" sz="1050" dirty="0"/>
          </a:p>
        </p:txBody>
      </p:sp>
      <p:pic>
        <p:nvPicPr>
          <p:cNvPr id="15" name="Image 3" descr="icons/check_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5148072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88720" y="51297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agentic design</a:t>
            </a:r>
            <a:endParaRPr lang="en-US" sz="1250" dirty="0"/>
          </a:p>
        </p:txBody>
      </p:sp>
      <p:sp>
        <p:nvSpPr>
          <p:cNvPr id="17" name="Text 11"/>
          <p:cNvSpPr txBox="1"/>
          <p:nvPr/>
        </p:nvSpPr>
        <p:spPr>
          <a:xfrm>
            <a:off x="1188720" y="540410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2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specialist tool is built and tested independently, then registered — parallel teamwork.</a:t>
            </a:r>
            <a:endParaRPr lang="en-US" sz="1050" dirty="0"/>
          </a:p>
        </p:txBody>
      </p:sp>
      <p:sp>
        <p:nvSpPr>
          <p:cNvPr id="18" name="Text 12"/>
          <p:cNvSpPr txBox="1"/>
          <p:nvPr/>
        </p:nvSpPr>
        <p:spPr>
          <a:xfrm>
            <a:off x="4937760" y="1463040"/>
            <a:ext cx="6702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 →  MITIGATIONS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937760" y="1828800"/>
            <a:ext cx="6702552" cy="841248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 w="12700">
            <a:solidFill>
              <a:srgbClr val="DBE4EF"/>
            </a:solidFill>
            <a:prstDash val="solid"/>
          </a:ln>
        </p:spPr>
      </p:sp>
      <p:pic>
        <p:nvPicPr>
          <p:cNvPr id="20" name="Image 4" descr="icons/warn_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2352" y="2130552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468112" y="1920240"/>
            <a:ext cx="2697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GPU compute for VLM training</a:t>
            </a:r>
            <a:endParaRPr lang="en-US" sz="1050" dirty="0"/>
          </a:p>
        </p:txBody>
      </p:sp>
      <p:pic>
        <p:nvPicPr>
          <p:cNvPr id="22" name="Image 5" descr="icons/bolt_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7888" y="2139696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8558784" y="1901952"/>
            <a:ext cx="2916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LoRA/PEFT + 4-bit quantised inference; frozen backbone, small adapters per task.</a:t>
            </a:r>
            <a:endParaRPr lang="en-US" sz="1000" dirty="0"/>
          </a:p>
        </p:txBody>
      </p:sp>
      <p:sp>
        <p:nvSpPr>
          <p:cNvPr id="24" name="Shape 16"/>
          <p:cNvSpPr/>
          <p:nvPr/>
        </p:nvSpPr>
        <p:spPr>
          <a:xfrm>
            <a:off x="4937760" y="2711196"/>
            <a:ext cx="6702552" cy="841248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 w="12700">
            <a:solidFill>
              <a:srgbClr val="DBE4EF"/>
            </a:solidFill>
            <a:prstDash val="solid"/>
          </a:ln>
        </p:spPr>
      </p:sp>
      <p:pic>
        <p:nvPicPr>
          <p:cNvPr id="25" name="Image 6" descr="icons/warn_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2352" y="3012948"/>
            <a:ext cx="237744" cy="237744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5468112" y="2802636"/>
            <a:ext cx="2697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GeoTIFF &amp; multi-band sensor handling</a:t>
            </a:r>
            <a:endParaRPr lang="en-US" sz="1050" dirty="0"/>
          </a:p>
        </p:txBody>
      </p:sp>
      <p:pic>
        <p:nvPicPr>
          <p:cNvPr id="27" name="Image 7" descr="icons/bolt_c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7888" y="3022092"/>
            <a:ext cx="201168" cy="201168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8558784" y="2784348"/>
            <a:ext cx="2916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GDAL/rasterio preprocessing layer: band selection, normalisation, tiling, CRS checks before models.</a:t>
            </a:r>
            <a:endParaRPr lang="en-US" sz="1000" dirty="0"/>
          </a:p>
        </p:txBody>
      </p:sp>
      <p:sp>
        <p:nvSpPr>
          <p:cNvPr id="29" name="Shape 19"/>
          <p:cNvSpPr/>
          <p:nvPr/>
        </p:nvSpPr>
        <p:spPr>
          <a:xfrm>
            <a:off x="4937760" y="3593592"/>
            <a:ext cx="6702552" cy="841248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 w="12700">
            <a:solidFill>
              <a:srgbClr val="DBE4EF"/>
            </a:solidFill>
            <a:prstDash val="solid"/>
          </a:ln>
        </p:spPr>
      </p:sp>
      <p:pic>
        <p:nvPicPr>
          <p:cNvPr id="30" name="Image 8" descr="icons/warn_o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02352" y="3895344"/>
            <a:ext cx="237744" cy="237744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5468112" y="3685032"/>
            <a:ext cx="2697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gap — Cartosat-2S / RISAT eval data</a:t>
            </a:r>
            <a:endParaRPr lang="en-US" sz="1050" dirty="0"/>
          </a:p>
        </p:txBody>
      </p:sp>
      <p:pic>
        <p:nvPicPr>
          <p:cNvPr id="32" name="Image 9" descr="icons/bolt_c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47888" y="3904488"/>
            <a:ext cx="201168" cy="201168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8558784" y="3666744"/>
            <a:ext cx="2916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Multisensor BigEarthNet adaptation + SAR-style augmentation &amp; resolution jitter for transfer.</a:t>
            </a:r>
            <a:endParaRPr lang="en-US" sz="1000" dirty="0"/>
          </a:p>
        </p:txBody>
      </p:sp>
      <p:sp>
        <p:nvSpPr>
          <p:cNvPr id="34" name="Shape 22"/>
          <p:cNvSpPr/>
          <p:nvPr/>
        </p:nvSpPr>
        <p:spPr>
          <a:xfrm>
            <a:off x="4937760" y="4475988"/>
            <a:ext cx="6702552" cy="841248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 w="12700">
            <a:solidFill>
              <a:srgbClr val="DBE4EF"/>
            </a:solidFill>
            <a:prstDash val="solid"/>
          </a:ln>
        </p:spPr>
      </p:sp>
      <p:pic>
        <p:nvPicPr>
          <p:cNvPr id="35" name="Image 10" descr="icons/warn_o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02352" y="4777740"/>
            <a:ext cx="237744" cy="237744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5468112" y="4567428"/>
            <a:ext cx="2697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 hallucination on unfamiliar scenes</a:t>
            </a:r>
            <a:endParaRPr lang="en-US" sz="1050" dirty="0"/>
          </a:p>
        </p:txBody>
      </p:sp>
      <p:pic>
        <p:nvPicPr>
          <p:cNvPr id="37" name="Image 11" descr="icons/bolt_c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47888" y="4786884"/>
            <a:ext cx="201168" cy="201168"/>
          </a:xfrm>
          <a:prstGeom prst="rect">
            <a:avLst/>
          </a:prstGeom>
        </p:spPr>
      </p:pic>
      <p:sp>
        <p:nvSpPr>
          <p:cNvPr id="38" name="Text 24"/>
          <p:cNvSpPr txBox="1"/>
          <p:nvPr/>
        </p:nvSpPr>
        <p:spPr>
          <a:xfrm>
            <a:off x="8558784" y="4549140"/>
            <a:ext cx="2916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outputs (masks/boxes), confidence thresholds, validator rejects incompatible inputs.</a:t>
            </a:r>
            <a:endParaRPr lang="en-US" sz="1000" dirty="0"/>
          </a:p>
        </p:txBody>
      </p:sp>
      <p:sp>
        <p:nvSpPr>
          <p:cNvPr id="39" name="Shape 25"/>
          <p:cNvSpPr/>
          <p:nvPr/>
        </p:nvSpPr>
        <p:spPr>
          <a:xfrm>
            <a:off x="4937760" y="5358384"/>
            <a:ext cx="6702552" cy="841248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 w="12700">
            <a:solidFill>
              <a:srgbClr val="DBE4EF"/>
            </a:solidFill>
            <a:prstDash val="solid"/>
          </a:ln>
        </p:spPr>
      </p:sp>
      <p:pic>
        <p:nvPicPr>
          <p:cNvPr id="40" name="Image 12" descr="icons/warn_o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02352" y="5660136"/>
            <a:ext cx="237744" cy="237744"/>
          </a:xfrm>
          <a:prstGeom prst="rect">
            <a:avLst/>
          </a:prstGeom>
        </p:spPr>
      </p:pic>
      <p:sp>
        <p:nvSpPr>
          <p:cNvPr id="41" name="Text 26"/>
          <p:cNvSpPr txBox="1"/>
          <p:nvPr/>
        </p:nvSpPr>
        <p:spPr>
          <a:xfrm>
            <a:off x="5468112" y="5449824"/>
            <a:ext cx="2697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orchestration failing live</a:t>
            </a:r>
            <a:endParaRPr lang="en-US" sz="1050" dirty="0"/>
          </a:p>
        </p:txBody>
      </p:sp>
      <p:pic>
        <p:nvPicPr>
          <p:cNvPr id="42" name="Image 13" descr="icons/bolt_c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47888" y="5669280"/>
            <a:ext cx="201168" cy="201168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8558784" y="5431536"/>
            <a:ext cx="2916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task-routing rules + full execution trace; graceful fallback to single-image VQA.</a:t>
            </a:r>
            <a:endParaRPr lang="en-US" sz="1000" dirty="0"/>
          </a:p>
        </p:txBody>
      </p:sp>
      <p:sp>
        <p:nvSpPr>
          <p:cNvPr id="44" name="Text 2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SatQuery AI  ·  PS 26167  ·  Smart India Hackathon — Internal Round</a:t>
            </a:r>
            <a:endParaRPr lang="en-US" sz="900" dirty="0"/>
          </a:p>
        </p:txBody>
      </p:sp>
      <p:sp>
        <p:nvSpPr>
          <p:cNvPr id="45" name="Text 29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Benefits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Democratising India's satellite data — from expert-only pipelines to a question anyone can ask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66160" cy="1133856"/>
          </a:xfrm>
          <a:prstGeom prst="roundRect">
            <a:avLst>
              <a:gd name="adj" fmla="val 8065"/>
            </a:avLst>
          </a:prstGeom>
          <a:solidFill>
            <a:srgbClr val="F1F5F9"/>
          </a:solidFill>
          <a:ln w="12700">
            <a:solidFill>
              <a:srgbClr val="DBE4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45920"/>
            <a:ext cx="420624" cy="420624"/>
          </a:xfrm>
          <a:prstGeom prst="ellipse">
            <a:avLst/>
          </a:prstGeom>
          <a:solidFill>
            <a:srgbClr val="2C8A4A"/>
          </a:solidFill>
          <a:ln/>
        </p:spPr>
      </p:sp>
      <p:pic>
        <p:nvPicPr>
          <p:cNvPr id="6" name="Image 0" descr="icons/seedling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594" y="1755282"/>
            <a:ext cx="201900" cy="201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61872" y="16276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Agriculture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261872" y="1901952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&amp; land-cover monitoring by simple queries each season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06824" y="1481328"/>
            <a:ext cx="3566160" cy="1133856"/>
          </a:xfrm>
          <a:prstGeom prst="roundRect">
            <a:avLst>
              <a:gd name="adj" fmla="val 8065"/>
            </a:avLst>
          </a:prstGeom>
          <a:solidFill>
            <a:srgbClr val="F1F5F9"/>
          </a:solidFill>
          <a:ln w="12700">
            <a:solidFill>
              <a:srgbClr val="DBE4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71416" y="1645920"/>
            <a:ext cx="420624" cy="420624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11" name="Image 1" descr="icons/flood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0778" y="1755282"/>
            <a:ext cx="201900" cy="201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20056" y="16276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 Response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5020056" y="1901952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sees through clouds — flood &amp; damage answers day or night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065008" y="1481328"/>
            <a:ext cx="3566160" cy="1133856"/>
          </a:xfrm>
          <a:prstGeom prst="roundRect">
            <a:avLst>
              <a:gd name="adj" fmla="val 8065"/>
            </a:avLst>
          </a:prstGeom>
          <a:solidFill>
            <a:srgbClr val="F1F5F9"/>
          </a:solidFill>
          <a:ln w="12700">
            <a:solidFill>
              <a:srgbClr val="DBE4E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0" y="1645920"/>
            <a:ext cx="420624" cy="420624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6" name="Image 2" descr="icons/city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8962" y="1755282"/>
            <a:ext cx="201900" cy="201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778240" y="16276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Planning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8778240" y="1901952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“Has built-up area increased?” answered with change maps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2779776"/>
            <a:ext cx="3566160" cy="1133856"/>
          </a:xfrm>
          <a:prstGeom prst="roundRect">
            <a:avLst>
              <a:gd name="adj" fmla="val 8065"/>
            </a:avLst>
          </a:prstGeom>
          <a:solidFill>
            <a:srgbClr val="F1F5F9"/>
          </a:solidFill>
          <a:ln w="12700">
            <a:solidFill>
              <a:srgbClr val="DBE4E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13232" y="2944368"/>
            <a:ext cx="420624" cy="420624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21" name="Image 3" descr="icons/tre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594" y="3053730"/>
            <a:ext cx="201900" cy="2019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61872" y="292608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 &amp; Ecology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1261872" y="3200400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Deforestation and vegetation change tracked over time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306824" y="2779776"/>
            <a:ext cx="3566160" cy="1133856"/>
          </a:xfrm>
          <a:prstGeom prst="roundRect">
            <a:avLst>
              <a:gd name="adj" fmla="val 8065"/>
            </a:avLst>
          </a:prstGeom>
          <a:solidFill>
            <a:srgbClr val="F1F5F9"/>
          </a:solidFill>
          <a:ln w="12700">
            <a:solidFill>
              <a:srgbClr val="DBE4E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71416" y="2944368"/>
            <a:ext cx="420624" cy="420624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26" name="Image 4" descr="icons/globe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0778" y="3053730"/>
            <a:ext cx="201900" cy="2019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020056" y="292608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Resources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5020056" y="3200400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bodies grounded &amp; monitored across optical + SAR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065008" y="2779776"/>
            <a:ext cx="3566160" cy="1133856"/>
          </a:xfrm>
          <a:prstGeom prst="roundRect">
            <a:avLst>
              <a:gd name="adj" fmla="val 8065"/>
            </a:avLst>
          </a:prstGeom>
          <a:solidFill>
            <a:srgbClr val="F1F5F9"/>
          </a:solidFill>
          <a:ln w="12700">
            <a:solidFill>
              <a:srgbClr val="DBE4E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29600" y="2944368"/>
            <a:ext cx="420624" cy="420624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31" name="Image 5" descr="icons/gears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8962" y="3053730"/>
            <a:ext cx="201900" cy="2019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778240" y="292608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8778240" y="3200400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&amp; monitoring assets from multimodal imagery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548640" y="4041648"/>
            <a:ext cx="11082528" cy="658368"/>
          </a:xfrm>
          <a:prstGeom prst="roundRect">
            <a:avLst>
              <a:gd name="adj" fmla="val 11111"/>
            </a:avLst>
          </a:prstGeom>
          <a:solidFill>
            <a:srgbClr val="0A1128"/>
          </a:solidFill>
          <a:ln/>
        </p:spPr>
      </p:sp>
      <p:sp>
        <p:nvSpPr>
          <p:cNvPr id="35" name="Shape 27"/>
          <p:cNvSpPr/>
          <p:nvPr/>
        </p:nvSpPr>
        <p:spPr>
          <a:xfrm>
            <a:off x="694944" y="4178808"/>
            <a:ext cx="384048" cy="384048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36" name="Image 6" descr="icons/users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796" y="4278660"/>
            <a:ext cx="184343" cy="184343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243584" y="4041648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</a:t>
            </a:r>
            <a:endParaRPr lang="en-US" sz="1200" dirty="0"/>
          </a:p>
        </p:txBody>
      </p:sp>
      <p:sp>
        <p:nvSpPr>
          <p:cNvPr id="38" name="Text 29"/>
          <p:cNvSpPr txBox="1"/>
          <p:nvPr/>
        </p:nvSpPr>
        <p:spPr>
          <a:xfrm>
            <a:off x="2560320" y="4041648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2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Non-experts — district officials, farmers' bodies, NGOs — extract insight from satellite imagery without GIS training, in natural language.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548640" y="4791456"/>
            <a:ext cx="11082528" cy="658368"/>
          </a:xfrm>
          <a:prstGeom prst="roundRect">
            <a:avLst>
              <a:gd name="adj" fmla="val 11111"/>
            </a:avLst>
          </a:prstGeom>
          <a:solidFill>
            <a:srgbClr val="0A1128"/>
          </a:solidFill>
          <a:ln/>
        </p:spPr>
      </p:sp>
      <p:sp>
        <p:nvSpPr>
          <p:cNvPr id="40" name="Shape 31"/>
          <p:cNvSpPr/>
          <p:nvPr/>
        </p:nvSpPr>
        <p:spPr>
          <a:xfrm>
            <a:off x="694944" y="4928616"/>
            <a:ext cx="384048" cy="384048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41" name="Image 7" descr="icons/chart_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4796" y="5028468"/>
            <a:ext cx="184343" cy="184343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1243584" y="4791456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</a:t>
            </a:r>
            <a:endParaRPr lang="en-US" sz="1200" dirty="0"/>
          </a:p>
        </p:txBody>
      </p:sp>
      <p:sp>
        <p:nvSpPr>
          <p:cNvPr id="43" name="Text 33"/>
          <p:cNvSpPr txBox="1"/>
          <p:nvPr/>
        </p:nvSpPr>
        <p:spPr>
          <a:xfrm>
            <a:off x="2560320" y="4791456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2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hours of manual multi-tool GIS analysis to seconds per query; one platform replaces many single-task systems — lower cost per insight.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548640" y="5541264"/>
            <a:ext cx="11082528" cy="658368"/>
          </a:xfrm>
          <a:prstGeom prst="roundRect">
            <a:avLst>
              <a:gd name="adj" fmla="val 11111"/>
            </a:avLst>
          </a:prstGeom>
          <a:solidFill>
            <a:srgbClr val="0A1128"/>
          </a:solidFill>
          <a:ln/>
        </p:spPr>
      </p:sp>
      <p:sp>
        <p:nvSpPr>
          <p:cNvPr id="45" name="Shape 35"/>
          <p:cNvSpPr/>
          <p:nvPr/>
        </p:nvSpPr>
        <p:spPr>
          <a:xfrm>
            <a:off x="694944" y="5678424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46" name="Image 8" descr="icons/rocket_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4796" y="5778276"/>
            <a:ext cx="184343" cy="184343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1243584" y="5541264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</a:t>
            </a:r>
            <a:endParaRPr lang="en-US" sz="1200" dirty="0"/>
          </a:p>
        </p:txBody>
      </p:sp>
      <p:sp>
        <p:nvSpPr>
          <p:cNvPr id="48" name="Text 37"/>
          <p:cNvSpPr txBox="1"/>
          <p:nvPr/>
        </p:nvSpPr>
        <p:spPr>
          <a:xfrm>
            <a:off x="2560320" y="5541264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2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Multiplies the value of ISRO's Cartosat &amp; RISAT missions and EO archives; auditable, evidence-grounded AI fit for governance use.</a:t>
            </a:r>
            <a:endParaRPr lang="en-US" sz="1050" dirty="0"/>
          </a:p>
        </p:txBody>
      </p:sp>
      <p:sp>
        <p:nvSpPr>
          <p:cNvPr id="49" name="Text 3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SatQuery AI  ·  PS 26167  ·  Smart India Hackathon — Internal Round</a:t>
            </a:r>
            <a:endParaRPr lang="en-US" sz="900" dirty="0"/>
          </a:p>
        </p:txBody>
      </p:sp>
      <p:sp>
        <p:nvSpPr>
          <p:cNvPr id="50" name="Text 39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920240" y="173736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108960" y="822960"/>
            <a:ext cx="22860" cy="22860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754880" y="45720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73152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778240" y="14630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0" y="457200"/>
            <a:ext cx="25603" cy="25603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0" y="109728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539496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560320" y="6217920"/>
            <a:ext cx="23774" cy="23774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480560" y="576072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863840" y="6309360"/>
            <a:ext cx="21946" cy="21946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509760" y="566928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247120" y="6126480"/>
            <a:ext cx="27432" cy="27432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852160" y="118872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881360" y="310896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291840"/>
            <a:ext cx="20117" cy="20117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704320" y="4663440"/>
            <a:ext cx="18288" cy="18288"/>
          </a:xfrm>
          <a:prstGeom prst="ellipse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&amp; References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96926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exact datasets and evaluation plan prescribed by the problem statement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1481328"/>
            <a:ext cx="5577840" cy="3291840"/>
          </a:xfrm>
          <a:prstGeom prst="roundRect">
            <a:avLst>
              <a:gd name="adj" fmla="val 2778"/>
            </a:avLst>
          </a:prstGeom>
          <a:solidFill>
            <a:srgbClr val="13203F"/>
          </a:solidFill>
          <a:ln w="12700">
            <a:solidFill>
              <a:srgbClr val="2D427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6384" y="16459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(as prescribed)</a:t>
            </a:r>
            <a:endParaRPr lang="en-US" sz="1100" dirty="0"/>
          </a:p>
        </p:txBody>
      </p:sp>
      <p:pic>
        <p:nvPicPr>
          <p:cNvPr id="24" name="Image 0" descr="icons/database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993392"/>
            <a:ext cx="237744" cy="237744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152144" y="1975104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BigEarthNet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1152144" y="222199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2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fine-tuning — co-registered Sentinel-1 SAR + Sentinel-2 multispectral with text annotations (arxiv.org/abs/2603.29630)</a:t>
            </a:r>
            <a:endParaRPr lang="en-US" sz="1000" dirty="0"/>
          </a:p>
        </p:txBody>
      </p:sp>
      <p:pic>
        <p:nvPicPr>
          <p:cNvPr id="27" name="Image 1" descr="icons/database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852928"/>
            <a:ext cx="237744" cy="237744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1152144" y="2834640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VRSBench</a:t>
            </a:r>
            <a:endParaRPr lang="en-US" sz="1250" dirty="0"/>
          </a:p>
        </p:txBody>
      </p:sp>
      <p:sp>
        <p:nvSpPr>
          <p:cNvPr id="29" name="Text 25"/>
          <p:cNvSpPr txBox="1"/>
          <p:nvPr/>
        </p:nvSpPr>
        <p:spPr>
          <a:xfrm>
            <a:off x="1152144" y="308152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2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— single-image captioning, grounding &amp; VQA</a:t>
            </a:r>
            <a:endParaRPr lang="en-US" sz="1000" dirty="0"/>
          </a:p>
        </p:txBody>
      </p:sp>
      <p:pic>
        <p:nvPicPr>
          <p:cNvPr id="30" name="Image 2" descr="icons/database_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3493008"/>
            <a:ext cx="237744" cy="237744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1152144" y="3474720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RSVQA</a:t>
            </a:r>
            <a:endParaRPr lang="en-US" sz="1250" dirty="0"/>
          </a:p>
        </p:txBody>
      </p:sp>
      <p:sp>
        <p:nvSpPr>
          <p:cNvPr id="32" name="Text 27"/>
          <p:cNvSpPr txBox="1"/>
          <p:nvPr/>
        </p:nvSpPr>
        <p:spPr>
          <a:xfrm>
            <a:off x="1152144" y="372160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2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— remote-sensing visual question answering</a:t>
            </a:r>
            <a:endParaRPr lang="en-US" sz="1000" dirty="0"/>
          </a:p>
        </p:txBody>
      </p:sp>
      <p:pic>
        <p:nvPicPr>
          <p:cNvPr id="33" name="Image 3" descr="icons/database_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4133088"/>
            <a:ext cx="237744" cy="237744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1152144" y="4114800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CDVQA</a:t>
            </a:r>
            <a:endParaRPr lang="en-US" sz="1250" dirty="0"/>
          </a:p>
        </p:txBody>
      </p:sp>
      <p:sp>
        <p:nvSpPr>
          <p:cNvPr id="35" name="Text 29"/>
          <p:cNvSpPr txBox="1"/>
          <p:nvPr/>
        </p:nvSpPr>
        <p:spPr>
          <a:xfrm>
            <a:off x="1152144" y="436168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2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— multitemporal change-based VQA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6355080" y="1481328"/>
            <a:ext cx="5285232" cy="3291840"/>
          </a:xfrm>
          <a:prstGeom prst="roundRect">
            <a:avLst>
              <a:gd name="adj" fmla="val 2778"/>
            </a:avLst>
          </a:prstGeom>
          <a:solidFill>
            <a:srgbClr val="13203F"/>
          </a:solidFill>
          <a:ln w="12700">
            <a:solidFill>
              <a:srgbClr val="2D4270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6592824" y="1645920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RESEARCH WE BUILD ON</a:t>
            </a:r>
            <a:endParaRPr lang="en-US" sz="1100" dirty="0"/>
          </a:p>
        </p:txBody>
      </p:sp>
      <p:pic>
        <p:nvPicPr>
          <p:cNvPr id="38" name="Image 4" descr="icons/book_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4" y="2011680"/>
            <a:ext cx="237744" cy="237744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6958584" y="1993392"/>
            <a:ext cx="4416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GeoChat (CVPR 2024)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6958584" y="2240280"/>
            <a:ext cx="4416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2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VLM for remote sensing — base for adaptation</a:t>
            </a:r>
            <a:endParaRPr lang="en-US" sz="1000" dirty="0"/>
          </a:p>
        </p:txBody>
      </p:sp>
      <p:pic>
        <p:nvPicPr>
          <p:cNvPr id="41" name="Image 5" descr="icons/book_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824" y="2734056"/>
            <a:ext cx="237744" cy="237744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6958584" y="2715768"/>
            <a:ext cx="4416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RemoteCLIP (2024)</a:t>
            </a:r>
            <a:endParaRPr lang="en-US" sz="1200" dirty="0"/>
          </a:p>
        </p:txBody>
      </p:sp>
      <p:sp>
        <p:nvSpPr>
          <p:cNvPr id="43" name="Text 35"/>
          <p:cNvSpPr txBox="1"/>
          <p:nvPr/>
        </p:nvSpPr>
        <p:spPr>
          <a:xfrm>
            <a:off x="6958584" y="2962656"/>
            <a:ext cx="4416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2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vision-language representation learning</a:t>
            </a:r>
            <a:endParaRPr lang="en-US" sz="1000" dirty="0"/>
          </a:p>
        </p:txBody>
      </p:sp>
      <p:pic>
        <p:nvPicPr>
          <p:cNvPr id="44" name="Image 6" descr="icons/book_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2824" y="3456432"/>
            <a:ext cx="237744" cy="237744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6958584" y="3438144"/>
            <a:ext cx="4416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RSVQA (TGRS 2020) &amp; CDVQA (TGRS 2022)</a:t>
            </a:r>
            <a:endParaRPr lang="en-US" sz="1200" dirty="0"/>
          </a:p>
        </p:txBody>
      </p:sp>
      <p:sp>
        <p:nvSpPr>
          <p:cNvPr id="46" name="Text 37"/>
          <p:cNvSpPr txBox="1"/>
          <p:nvPr/>
        </p:nvSpPr>
        <p:spPr>
          <a:xfrm>
            <a:off x="6958584" y="3685032"/>
            <a:ext cx="4416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2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formulations for RS-VQA and change-VQA</a:t>
            </a:r>
            <a:endParaRPr lang="en-US" sz="1000" dirty="0"/>
          </a:p>
        </p:txBody>
      </p:sp>
      <p:pic>
        <p:nvPicPr>
          <p:cNvPr id="47" name="Image 7" descr="icons/book_o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2824" y="4178808"/>
            <a:ext cx="237744" cy="237744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6958584" y="4160520"/>
            <a:ext cx="4416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(ICLR 2022)</a:t>
            </a:r>
            <a:endParaRPr lang="en-US" sz="1200" dirty="0"/>
          </a:p>
        </p:txBody>
      </p:sp>
      <p:sp>
        <p:nvSpPr>
          <p:cNvPr id="49" name="Text 39"/>
          <p:cNvSpPr txBox="1"/>
          <p:nvPr/>
        </p:nvSpPr>
        <p:spPr>
          <a:xfrm>
            <a:off x="6958584" y="4407408"/>
            <a:ext cx="4416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2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Parameter-efficient fine-tuning under low compute</a:t>
            </a:r>
            <a:endParaRPr lang="en-US" sz="1000" dirty="0"/>
          </a:p>
        </p:txBody>
      </p:sp>
      <p:sp>
        <p:nvSpPr>
          <p:cNvPr id="50" name="Shape 40"/>
          <p:cNvSpPr/>
          <p:nvPr/>
        </p:nvSpPr>
        <p:spPr>
          <a:xfrm>
            <a:off x="548640" y="4956048"/>
            <a:ext cx="11091672" cy="1170432"/>
          </a:xfrm>
          <a:prstGeom prst="roundRect">
            <a:avLst>
              <a:gd name="adj" fmla="val 7813"/>
            </a:avLst>
          </a:prstGeom>
          <a:solidFill>
            <a:srgbClr val="063B57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51" name="Text 41"/>
          <p:cNvSpPr txBox="1"/>
          <p:nvPr/>
        </p:nvSpPr>
        <p:spPr>
          <a:xfrm>
            <a:off x="804672" y="510235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EVALUATION-READY BY DESIGN</a:t>
            </a:r>
            <a:endParaRPr lang="en-US" sz="1100" dirty="0"/>
          </a:p>
        </p:txBody>
      </p:sp>
      <p:sp>
        <p:nvSpPr>
          <p:cNvPr id="52" name="Text 42"/>
          <p:cNvSpPr txBox="1"/>
          <p:nvPr/>
        </p:nvSpPr>
        <p:spPr>
          <a:xfrm>
            <a:off x="804672" y="5394960"/>
            <a:ext cx="10561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evaluate on the prescribed public test splits (accuracy for VQA · BLEU/CIDEr for captioning · IoU for grounding) with normalised scores, and design for the ISRO/SAC hidden set — 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pre-georeferenced Cartosat-2S optical + RISAT SAR pairs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5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via multisensor training and strict input validation.</a:t>
            </a:r>
            <a:endParaRPr lang="en-US" sz="1150" dirty="0"/>
          </a:p>
        </p:txBody>
      </p:sp>
      <p:sp>
        <p:nvSpPr>
          <p:cNvPr id="53" name="Text 4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SatQuery AI  ·  PS 26167  ·  Smart India Hackathon — Internal Round</a:t>
            </a:r>
            <a:endParaRPr lang="en-US" sz="900" dirty="0"/>
          </a:p>
        </p:txBody>
      </p:sp>
      <p:sp>
        <p:nvSpPr>
          <p:cNvPr id="54" name="Text 44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2026-08-31T18:01:54Z</dcterms:created>
  <dcterms:modified xsi:type="dcterms:W3CDTF">2026-08-31T18:01:54Z</dcterms:modified>
</cp:coreProperties>
</file>